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30303">
              <a:alpha val="7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2661" y="283064"/>
            <a:ext cx="4538017" cy="6198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471" y="1672959"/>
            <a:ext cx="4946650" cy="266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5715000" cy="5143500"/>
            </a:xfrm>
            <a:custGeom>
              <a:avLst/>
              <a:gdLst/>
              <a:ahLst/>
              <a:cxnLst/>
              <a:rect l="l" t="t" r="r" b="b"/>
              <a:pathLst>
                <a:path w="5715000" h="5143500">
                  <a:moveTo>
                    <a:pt x="0" y="5143500"/>
                  </a:moveTo>
                  <a:lnTo>
                    <a:pt x="5715000" y="5143500"/>
                  </a:lnTo>
                  <a:lnTo>
                    <a:pt x="5715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030303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0" y="0"/>
              <a:ext cx="3429000" cy="51435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3419" y="1388490"/>
            <a:ext cx="3458210" cy="8826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0"/>
              </a:spcBef>
            </a:pPr>
            <a:r>
              <a:rPr dirty="0" sz="2750"/>
              <a:t>Smart</a:t>
            </a:r>
            <a:r>
              <a:rPr dirty="0" sz="2750" spc="-35"/>
              <a:t> </a:t>
            </a:r>
            <a:r>
              <a:rPr dirty="0" sz="2750"/>
              <a:t>Traffic</a:t>
            </a:r>
            <a:r>
              <a:rPr dirty="0" sz="2750" spc="-30"/>
              <a:t> </a:t>
            </a:r>
            <a:r>
              <a:rPr dirty="0" sz="2750" spc="-10"/>
              <a:t>Violation </a:t>
            </a:r>
            <a:r>
              <a:rPr dirty="0" sz="2750"/>
              <a:t>Management</a:t>
            </a:r>
            <a:r>
              <a:rPr dirty="0" sz="2750" spc="-45"/>
              <a:t> </a:t>
            </a:r>
            <a:r>
              <a:rPr dirty="0" sz="2750" spc="-10"/>
              <a:t>System</a:t>
            </a:r>
            <a:endParaRPr sz="2750"/>
          </a:p>
        </p:txBody>
      </p:sp>
      <p:sp>
        <p:nvSpPr>
          <p:cNvPr id="7" name="object 7" descr=""/>
          <p:cNvSpPr/>
          <p:nvPr/>
        </p:nvSpPr>
        <p:spPr>
          <a:xfrm>
            <a:off x="496119" y="2874391"/>
            <a:ext cx="2021839" cy="266700"/>
          </a:xfrm>
          <a:custGeom>
            <a:avLst/>
            <a:gdLst/>
            <a:ahLst/>
            <a:cxnLst/>
            <a:rect l="l" t="t" r="r" b="b"/>
            <a:pathLst>
              <a:path w="2021839" h="266700">
                <a:moveTo>
                  <a:pt x="1919757" y="0"/>
                </a:moveTo>
                <a:lnTo>
                  <a:pt x="102071" y="0"/>
                </a:lnTo>
                <a:lnTo>
                  <a:pt x="62500" y="8074"/>
                </a:lnTo>
                <a:lnTo>
                  <a:pt x="30037" y="30037"/>
                </a:lnTo>
                <a:lnTo>
                  <a:pt x="8074" y="62498"/>
                </a:lnTo>
                <a:lnTo>
                  <a:pt x="0" y="102069"/>
                </a:lnTo>
                <a:lnTo>
                  <a:pt x="0" y="164325"/>
                </a:lnTo>
                <a:lnTo>
                  <a:pt x="8074" y="203898"/>
                </a:lnTo>
                <a:lnTo>
                  <a:pt x="30037" y="236364"/>
                </a:lnTo>
                <a:lnTo>
                  <a:pt x="62500" y="258331"/>
                </a:lnTo>
                <a:lnTo>
                  <a:pt x="102071" y="266407"/>
                </a:lnTo>
                <a:lnTo>
                  <a:pt x="1919757" y="266407"/>
                </a:lnTo>
                <a:lnTo>
                  <a:pt x="1959328" y="258331"/>
                </a:lnTo>
                <a:lnTo>
                  <a:pt x="1991790" y="236364"/>
                </a:lnTo>
                <a:lnTo>
                  <a:pt x="2013753" y="203898"/>
                </a:lnTo>
                <a:lnTo>
                  <a:pt x="2021827" y="164325"/>
                </a:lnTo>
                <a:lnTo>
                  <a:pt x="2021827" y="102069"/>
                </a:lnTo>
                <a:lnTo>
                  <a:pt x="2013753" y="62498"/>
                </a:lnTo>
                <a:lnTo>
                  <a:pt x="1991790" y="30037"/>
                </a:lnTo>
                <a:lnTo>
                  <a:pt x="1959328" y="8074"/>
                </a:lnTo>
                <a:lnTo>
                  <a:pt x="1919757" y="0"/>
                </a:lnTo>
                <a:close/>
              </a:path>
            </a:pathLst>
          </a:custGeom>
          <a:solidFill>
            <a:srgbClr val="4A1E0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3419" y="2527058"/>
            <a:ext cx="4257040" cy="122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OOP</a:t>
            </a:r>
            <a:r>
              <a:rPr dirty="0" sz="11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Lab</a:t>
            </a:r>
            <a:r>
              <a:rPr dirty="0" sz="11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Project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·</a:t>
            </a:r>
            <a:r>
              <a:rPr dirty="0" sz="11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BSCS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2A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100">
              <a:latin typeface="Arial"/>
              <a:cs typeface="Arial"/>
            </a:endParaRPr>
          </a:p>
          <a:p>
            <a:pPr marL="97155">
              <a:lnSpc>
                <a:spcPct val="100000"/>
              </a:lnSpc>
            </a:pP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INSTRUCTOR: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MAM</a:t>
            </a:r>
            <a:r>
              <a:rPr dirty="0" sz="85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ZOOBIA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FATIMA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32600"/>
              </a:lnSpc>
            </a:pPr>
            <a:r>
              <a:rPr dirty="0" sz="1100" spc="-10" b="1">
                <a:solidFill>
                  <a:srgbClr val="E4DFDF"/>
                </a:solidFill>
                <a:latin typeface="Arial"/>
                <a:cs typeface="Arial"/>
              </a:rPr>
              <a:t>Presented</a:t>
            </a:r>
            <a:r>
              <a:rPr dirty="0" sz="1100" spc="-35" b="1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4DFDF"/>
                </a:solidFill>
                <a:latin typeface="Arial"/>
                <a:cs typeface="Arial"/>
              </a:rPr>
              <a:t>By:</a:t>
            </a:r>
            <a:r>
              <a:rPr dirty="0" sz="1100" spc="-25" b="1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Adnan</a:t>
            </a:r>
            <a:r>
              <a:rPr dirty="0" sz="11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Nasir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(Group</a:t>
            </a:r>
            <a:r>
              <a:rPr dirty="0" sz="11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Lead)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·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Mohid</a:t>
            </a:r>
            <a:r>
              <a:rPr dirty="0" sz="11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Tanveer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·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Meekal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Raees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·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Maaz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Munawwar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4955" y="356594"/>
            <a:ext cx="1583690" cy="383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10"/>
              <a:t>Introduction</a:t>
            </a:r>
            <a:endParaRPr sz="2350"/>
          </a:p>
        </p:txBody>
      </p:sp>
      <p:sp>
        <p:nvSpPr>
          <p:cNvPr id="5" name="object 5" descr=""/>
          <p:cNvSpPr txBox="1"/>
          <p:nvPr/>
        </p:nvSpPr>
        <p:spPr>
          <a:xfrm>
            <a:off x="3834955" y="875473"/>
            <a:ext cx="480949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Traffic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rule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violations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are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a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leading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cause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of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road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accidents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urban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traffic</a:t>
            </a:r>
            <a:r>
              <a:rPr dirty="0" sz="9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mismanagement.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This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project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addresses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that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challenge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by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building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an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automated,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object-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oriented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system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in </a:t>
            </a:r>
            <a:r>
              <a:rPr dirty="0" sz="900" spc="-25" b="1">
                <a:solidFill>
                  <a:srgbClr val="E4DFDF"/>
                </a:solidFill>
                <a:latin typeface="Arial"/>
                <a:cs typeface="Arial"/>
              </a:rPr>
              <a:t>C++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that</a:t>
            </a:r>
            <a:r>
              <a:rPr dirty="0" sz="9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manages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entire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violation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lifecycle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—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from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detection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to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challan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generation.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840511" y="1702365"/>
            <a:ext cx="4892040" cy="706120"/>
            <a:chOff x="3840511" y="1702365"/>
            <a:chExt cx="4892040" cy="706120"/>
          </a:xfrm>
        </p:grpSpPr>
        <p:sp>
          <p:nvSpPr>
            <p:cNvPr id="7" name="object 7" descr=""/>
            <p:cNvSpPr/>
            <p:nvPr/>
          </p:nvSpPr>
          <p:spPr>
            <a:xfrm>
              <a:off x="3847655" y="1709508"/>
              <a:ext cx="4878070" cy="691515"/>
            </a:xfrm>
            <a:custGeom>
              <a:avLst/>
              <a:gdLst/>
              <a:ahLst/>
              <a:cxnLst/>
              <a:rect l="l" t="t" r="r" b="b"/>
              <a:pathLst>
                <a:path w="4878070" h="691514">
                  <a:moveTo>
                    <a:pt x="4770043" y="0"/>
                  </a:moveTo>
                  <a:lnTo>
                    <a:pt x="107652" y="0"/>
                  </a:lnTo>
                  <a:lnTo>
                    <a:pt x="65917" y="8515"/>
                  </a:lnTo>
                  <a:lnTo>
                    <a:pt x="31680" y="31678"/>
                  </a:lnTo>
                  <a:lnTo>
                    <a:pt x="8515" y="65917"/>
                  </a:lnTo>
                  <a:lnTo>
                    <a:pt x="0" y="107657"/>
                  </a:lnTo>
                  <a:lnTo>
                    <a:pt x="0" y="583806"/>
                  </a:lnTo>
                  <a:lnTo>
                    <a:pt x="8515" y="625539"/>
                  </a:lnTo>
                  <a:lnTo>
                    <a:pt x="31680" y="659774"/>
                  </a:lnTo>
                  <a:lnTo>
                    <a:pt x="65917" y="682936"/>
                  </a:lnTo>
                  <a:lnTo>
                    <a:pt x="107652" y="691451"/>
                  </a:lnTo>
                  <a:lnTo>
                    <a:pt x="4770043" y="691451"/>
                  </a:lnTo>
                  <a:lnTo>
                    <a:pt x="4811777" y="682936"/>
                  </a:lnTo>
                  <a:lnTo>
                    <a:pt x="4846012" y="659774"/>
                  </a:lnTo>
                  <a:lnTo>
                    <a:pt x="4869174" y="625539"/>
                  </a:lnTo>
                  <a:lnTo>
                    <a:pt x="4877689" y="583806"/>
                  </a:lnTo>
                  <a:lnTo>
                    <a:pt x="4877689" y="107657"/>
                  </a:lnTo>
                  <a:lnTo>
                    <a:pt x="4869174" y="65917"/>
                  </a:lnTo>
                  <a:lnTo>
                    <a:pt x="4846012" y="31678"/>
                  </a:lnTo>
                  <a:lnTo>
                    <a:pt x="4811777" y="8515"/>
                  </a:lnTo>
                  <a:lnTo>
                    <a:pt x="4770043" y="0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47655" y="1709508"/>
              <a:ext cx="4878070" cy="691515"/>
            </a:xfrm>
            <a:custGeom>
              <a:avLst/>
              <a:gdLst/>
              <a:ahLst/>
              <a:cxnLst/>
              <a:rect l="l" t="t" r="r" b="b"/>
              <a:pathLst>
                <a:path w="4878070" h="691514">
                  <a:moveTo>
                    <a:pt x="0" y="107657"/>
                  </a:moveTo>
                  <a:lnTo>
                    <a:pt x="8515" y="65917"/>
                  </a:lnTo>
                  <a:lnTo>
                    <a:pt x="31680" y="31678"/>
                  </a:lnTo>
                  <a:lnTo>
                    <a:pt x="65917" y="8515"/>
                  </a:lnTo>
                  <a:lnTo>
                    <a:pt x="107652" y="0"/>
                  </a:lnTo>
                  <a:lnTo>
                    <a:pt x="4770043" y="0"/>
                  </a:lnTo>
                  <a:lnTo>
                    <a:pt x="4811777" y="8515"/>
                  </a:lnTo>
                  <a:lnTo>
                    <a:pt x="4846012" y="31678"/>
                  </a:lnTo>
                  <a:lnTo>
                    <a:pt x="4869174" y="65917"/>
                  </a:lnTo>
                  <a:lnTo>
                    <a:pt x="4877689" y="107657"/>
                  </a:lnTo>
                  <a:lnTo>
                    <a:pt x="4877689" y="583806"/>
                  </a:lnTo>
                  <a:lnTo>
                    <a:pt x="4869174" y="625539"/>
                  </a:lnTo>
                  <a:lnTo>
                    <a:pt x="4846012" y="659774"/>
                  </a:lnTo>
                  <a:lnTo>
                    <a:pt x="4811777" y="682936"/>
                  </a:lnTo>
                  <a:lnTo>
                    <a:pt x="4770043" y="691451"/>
                  </a:lnTo>
                  <a:lnTo>
                    <a:pt x="107652" y="691451"/>
                  </a:lnTo>
                  <a:lnTo>
                    <a:pt x="65917" y="682936"/>
                  </a:lnTo>
                  <a:lnTo>
                    <a:pt x="31680" y="659774"/>
                  </a:lnTo>
                  <a:lnTo>
                    <a:pt x="8515" y="625539"/>
                  </a:lnTo>
                  <a:lnTo>
                    <a:pt x="0" y="583806"/>
                  </a:lnTo>
                  <a:lnTo>
                    <a:pt x="0" y="107657"/>
                  </a:lnTo>
                  <a:close/>
                </a:path>
              </a:pathLst>
            </a:custGeom>
            <a:ln w="14287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968826" y="1836483"/>
            <a:ext cx="1905635" cy="436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Manage</a:t>
            </a:r>
            <a:r>
              <a:rPr dirty="0" sz="11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Violations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Record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track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all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traffic</a:t>
            </a:r>
            <a:r>
              <a:rPr dirty="0" sz="9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infractions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840511" y="2494730"/>
            <a:ext cx="4892040" cy="706120"/>
            <a:chOff x="3840511" y="2494730"/>
            <a:chExt cx="4892040" cy="706120"/>
          </a:xfrm>
        </p:grpSpPr>
        <p:sp>
          <p:nvSpPr>
            <p:cNvPr id="11" name="object 11" descr=""/>
            <p:cNvSpPr/>
            <p:nvPr/>
          </p:nvSpPr>
          <p:spPr>
            <a:xfrm>
              <a:off x="3847655" y="2501874"/>
              <a:ext cx="4878070" cy="691515"/>
            </a:xfrm>
            <a:custGeom>
              <a:avLst/>
              <a:gdLst/>
              <a:ahLst/>
              <a:cxnLst/>
              <a:rect l="l" t="t" r="r" b="b"/>
              <a:pathLst>
                <a:path w="4878070" h="691514">
                  <a:moveTo>
                    <a:pt x="4770043" y="0"/>
                  </a:moveTo>
                  <a:lnTo>
                    <a:pt x="107652" y="0"/>
                  </a:lnTo>
                  <a:lnTo>
                    <a:pt x="65917" y="8515"/>
                  </a:lnTo>
                  <a:lnTo>
                    <a:pt x="31680" y="31678"/>
                  </a:lnTo>
                  <a:lnTo>
                    <a:pt x="8515" y="65917"/>
                  </a:lnTo>
                  <a:lnTo>
                    <a:pt x="0" y="107657"/>
                  </a:lnTo>
                  <a:lnTo>
                    <a:pt x="0" y="583806"/>
                  </a:lnTo>
                  <a:lnTo>
                    <a:pt x="8515" y="625539"/>
                  </a:lnTo>
                  <a:lnTo>
                    <a:pt x="31680" y="659774"/>
                  </a:lnTo>
                  <a:lnTo>
                    <a:pt x="65917" y="682936"/>
                  </a:lnTo>
                  <a:lnTo>
                    <a:pt x="107652" y="691451"/>
                  </a:lnTo>
                  <a:lnTo>
                    <a:pt x="4770043" y="691451"/>
                  </a:lnTo>
                  <a:lnTo>
                    <a:pt x="4811777" y="682936"/>
                  </a:lnTo>
                  <a:lnTo>
                    <a:pt x="4846012" y="659774"/>
                  </a:lnTo>
                  <a:lnTo>
                    <a:pt x="4869174" y="625539"/>
                  </a:lnTo>
                  <a:lnTo>
                    <a:pt x="4877689" y="583806"/>
                  </a:lnTo>
                  <a:lnTo>
                    <a:pt x="4877689" y="107657"/>
                  </a:lnTo>
                  <a:lnTo>
                    <a:pt x="4869174" y="65917"/>
                  </a:lnTo>
                  <a:lnTo>
                    <a:pt x="4846012" y="31678"/>
                  </a:lnTo>
                  <a:lnTo>
                    <a:pt x="4811777" y="8515"/>
                  </a:lnTo>
                  <a:lnTo>
                    <a:pt x="4770043" y="0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47655" y="2501874"/>
              <a:ext cx="4878070" cy="691515"/>
            </a:xfrm>
            <a:custGeom>
              <a:avLst/>
              <a:gdLst/>
              <a:ahLst/>
              <a:cxnLst/>
              <a:rect l="l" t="t" r="r" b="b"/>
              <a:pathLst>
                <a:path w="4878070" h="691514">
                  <a:moveTo>
                    <a:pt x="0" y="107657"/>
                  </a:moveTo>
                  <a:lnTo>
                    <a:pt x="8515" y="65917"/>
                  </a:lnTo>
                  <a:lnTo>
                    <a:pt x="31680" y="31678"/>
                  </a:lnTo>
                  <a:lnTo>
                    <a:pt x="65917" y="8515"/>
                  </a:lnTo>
                  <a:lnTo>
                    <a:pt x="107652" y="0"/>
                  </a:lnTo>
                  <a:lnTo>
                    <a:pt x="4770043" y="0"/>
                  </a:lnTo>
                  <a:lnTo>
                    <a:pt x="4811777" y="8515"/>
                  </a:lnTo>
                  <a:lnTo>
                    <a:pt x="4846012" y="31678"/>
                  </a:lnTo>
                  <a:lnTo>
                    <a:pt x="4869174" y="65917"/>
                  </a:lnTo>
                  <a:lnTo>
                    <a:pt x="4877689" y="107657"/>
                  </a:lnTo>
                  <a:lnTo>
                    <a:pt x="4877689" y="583806"/>
                  </a:lnTo>
                  <a:lnTo>
                    <a:pt x="4869174" y="625539"/>
                  </a:lnTo>
                  <a:lnTo>
                    <a:pt x="4846012" y="659774"/>
                  </a:lnTo>
                  <a:lnTo>
                    <a:pt x="4811777" y="682936"/>
                  </a:lnTo>
                  <a:lnTo>
                    <a:pt x="4770043" y="691451"/>
                  </a:lnTo>
                  <a:lnTo>
                    <a:pt x="107652" y="691451"/>
                  </a:lnTo>
                  <a:lnTo>
                    <a:pt x="65917" y="682936"/>
                  </a:lnTo>
                  <a:lnTo>
                    <a:pt x="31680" y="659774"/>
                  </a:lnTo>
                  <a:lnTo>
                    <a:pt x="8515" y="625539"/>
                  </a:lnTo>
                  <a:lnTo>
                    <a:pt x="0" y="583806"/>
                  </a:lnTo>
                  <a:lnTo>
                    <a:pt x="0" y="107657"/>
                  </a:lnTo>
                  <a:close/>
                </a:path>
              </a:pathLst>
            </a:custGeom>
            <a:ln w="14287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968826" y="2628849"/>
            <a:ext cx="1892300" cy="436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Store</a:t>
            </a:r>
            <a:r>
              <a:rPr dirty="0" sz="115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Details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Driver</a:t>
            </a:r>
            <a:r>
              <a:rPr dirty="0" sz="9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vehicle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data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management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840511" y="3287096"/>
            <a:ext cx="4892040" cy="706120"/>
            <a:chOff x="3840511" y="3287096"/>
            <a:chExt cx="4892040" cy="706120"/>
          </a:xfrm>
        </p:grpSpPr>
        <p:sp>
          <p:nvSpPr>
            <p:cNvPr id="15" name="object 15" descr=""/>
            <p:cNvSpPr/>
            <p:nvPr/>
          </p:nvSpPr>
          <p:spPr>
            <a:xfrm>
              <a:off x="3847655" y="3294240"/>
              <a:ext cx="4878070" cy="691515"/>
            </a:xfrm>
            <a:custGeom>
              <a:avLst/>
              <a:gdLst/>
              <a:ahLst/>
              <a:cxnLst/>
              <a:rect l="l" t="t" r="r" b="b"/>
              <a:pathLst>
                <a:path w="4878070" h="691514">
                  <a:moveTo>
                    <a:pt x="4770043" y="0"/>
                  </a:moveTo>
                  <a:lnTo>
                    <a:pt x="107652" y="0"/>
                  </a:lnTo>
                  <a:lnTo>
                    <a:pt x="65917" y="8515"/>
                  </a:lnTo>
                  <a:lnTo>
                    <a:pt x="31680" y="31678"/>
                  </a:lnTo>
                  <a:lnTo>
                    <a:pt x="8515" y="65917"/>
                  </a:lnTo>
                  <a:lnTo>
                    <a:pt x="0" y="107657"/>
                  </a:lnTo>
                  <a:lnTo>
                    <a:pt x="0" y="583806"/>
                  </a:lnTo>
                  <a:lnTo>
                    <a:pt x="8515" y="625539"/>
                  </a:lnTo>
                  <a:lnTo>
                    <a:pt x="31680" y="659774"/>
                  </a:lnTo>
                  <a:lnTo>
                    <a:pt x="65917" y="682936"/>
                  </a:lnTo>
                  <a:lnTo>
                    <a:pt x="107652" y="691451"/>
                  </a:lnTo>
                  <a:lnTo>
                    <a:pt x="4770043" y="691451"/>
                  </a:lnTo>
                  <a:lnTo>
                    <a:pt x="4811777" y="682936"/>
                  </a:lnTo>
                  <a:lnTo>
                    <a:pt x="4846012" y="659774"/>
                  </a:lnTo>
                  <a:lnTo>
                    <a:pt x="4869174" y="625539"/>
                  </a:lnTo>
                  <a:lnTo>
                    <a:pt x="4877689" y="583806"/>
                  </a:lnTo>
                  <a:lnTo>
                    <a:pt x="4877689" y="107657"/>
                  </a:lnTo>
                  <a:lnTo>
                    <a:pt x="4869174" y="65917"/>
                  </a:lnTo>
                  <a:lnTo>
                    <a:pt x="4846012" y="31678"/>
                  </a:lnTo>
                  <a:lnTo>
                    <a:pt x="4811777" y="8515"/>
                  </a:lnTo>
                  <a:lnTo>
                    <a:pt x="4770043" y="0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847655" y="3294240"/>
              <a:ext cx="4878070" cy="691515"/>
            </a:xfrm>
            <a:custGeom>
              <a:avLst/>
              <a:gdLst/>
              <a:ahLst/>
              <a:cxnLst/>
              <a:rect l="l" t="t" r="r" b="b"/>
              <a:pathLst>
                <a:path w="4878070" h="691514">
                  <a:moveTo>
                    <a:pt x="0" y="107657"/>
                  </a:moveTo>
                  <a:lnTo>
                    <a:pt x="8515" y="65917"/>
                  </a:lnTo>
                  <a:lnTo>
                    <a:pt x="31680" y="31678"/>
                  </a:lnTo>
                  <a:lnTo>
                    <a:pt x="65917" y="8515"/>
                  </a:lnTo>
                  <a:lnTo>
                    <a:pt x="107652" y="0"/>
                  </a:lnTo>
                  <a:lnTo>
                    <a:pt x="4770043" y="0"/>
                  </a:lnTo>
                  <a:lnTo>
                    <a:pt x="4811777" y="8515"/>
                  </a:lnTo>
                  <a:lnTo>
                    <a:pt x="4846012" y="31678"/>
                  </a:lnTo>
                  <a:lnTo>
                    <a:pt x="4869174" y="65917"/>
                  </a:lnTo>
                  <a:lnTo>
                    <a:pt x="4877689" y="107657"/>
                  </a:lnTo>
                  <a:lnTo>
                    <a:pt x="4877689" y="583806"/>
                  </a:lnTo>
                  <a:lnTo>
                    <a:pt x="4869174" y="625539"/>
                  </a:lnTo>
                  <a:lnTo>
                    <a:pt x="4846012" y="659774"/>
                  </a:lnTo>
                  <a:lnTo>
                    <a:pt x="4811777" y="682936"/>
                  </a:lnTo>
                  <a:lnTo>
                    <a:pt x="4770043" y="691451"/>
                  </a:lnTo>
                  <a:lnTo>
                    <a:pt x="107652" y="691451"/>
                  </a:lnTo>
                  <a:lnTo>
                    <a:pt x="65917" y="682936"/>
                  </a:lnTo>
                  <a:lnTo>
                    <a:pt x="31680" y="659774"/>
                  </a:lnTo>
                  <a:lnTo>
                    <a:pt x="8515" y="625539"/>
                  </a:lnTo>
                  <a:lnTo>
                    <a:pt x="0" y="583806"/>
                  </a:lnTo>
                  <a:lnTo>
                    <a:pt x="0" y="107657"/>
                  </a:lnTo>
                  <a:close/>
                </a:path>
              </a:pathLst>
            </a:custGeom>
            <a:ln w="14287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968826" y="3421214"/>
            <a:ext cx="1747520" cy="436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Auto-Detect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Automatic</a:t>
            </a:r>
            <a:r>
              <a:rPr dirty="0" sz="9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violation</a:t>
            </a:r>
            <a:r>
              <a:rPr dirty="0" sz="9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detection</a:t>
            </a:r>
            <a:r>
              <a:rPr dirty="0" sz="9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logic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840511" y="4079449"/>
            <a:ext cx="4892040" cy="706120"/>
            <a:chOff x="3840511" y="4079449"/>
            <a:chExt cx="4892040" cy="706120"/>
          </a:xfrm>
        </p:grpSpPr>
        <p:sp>
          <p:nvSpPr>
            <p:cNvPr id="19" name="object 19" descr=""/>
            <p:cNvSpPr/>
            <p:nvPr/>
          </p:nvSpPr>
          <p:spPr>
            <a:xfrm>
              <a:off x="3847655" y="4086593"/>
              <a:ext cx="4878070" cy="691515"/>
            </a:xfrm>
            <a:custGeom>
              <a:avLst/>
              <a:gdLst/>
              <a:ahLst/>
              <a:cxnLst/>
              <a:rect l="l" t="t" r="r" b="b"/>
              <a:pathLst>
                <a:path w="4878070" h="691514">
                  <a:moveTo>
                    <a:pt x="4770043" y="0"/>
                  </a:moveTo>
                  <a:lnTo>
                    <a:pt x="107652" y="0"/>
                  </a:lnTo>
                  <a:lnTo>
                    <a:pt x="65917" y="8515"/>
                  </a:lnTo>
                  <a:lnTo>
                    <a:pt x="31680" y="31678"/>
                  </a:lnTo>
                  <a:lnTo>
                    <a:pt x="8515" y="65917"/>
                  </a:lnTo>
                  <a:lnTo>
                    <a:pt x="0" y="107657"/>
                  </a:lnTo>
                  <a:lnTo>
                    <a:pt x="0" y="583806"/>
                  </a:lnTo>
                  <a:lnTo>
                    <a:pt x="8515" y="625539"/>
                  </a:lnTo>
                  <a:lnTo>
                    <a:pt x="31680" y="659774"/>
                  </a:lnTo>
                  <a:lnTo>
                    <a:pt x="65917" y="682936"/>
                  </a:lnTo>
                  <a:lnTo>
                    <a:pt x="107652" y="691451"/>
                  </a:lnTo>
                  <a:lnTo>
                    <a:pt x="4770043" y="691451"/>
                  </a:lnTo>
                  <a:lnTo>
                    <a:pt x="4811777" y="682936"/>
                  </a:lnTo>
                  <a:lnTo>
                    <a:pt x="4846012" y="659774"/>
                  </a:lnTo>
                  <a:lnTo>
                    <a:pt x="4869174" y="625539"/>
                  </a:lnTo>
                  <a:lnTo>
                    <a:pt x="4877689" y="583806"/>
                  </a:lnTo>
                  <a:lnTo>
                    <a:pt x="4877689" y="107657"/>
                  </a:lnTo>
                  <a:lnTo>
                    <a:pt x="4869174" y="65917"/>
                  </a:lnTo>
                  <a:lnTo>
                    <a:pt x="4846012" y="31678"/>
                  </a:lnTo>
                  <a:lnTo>
                    <a:pt x="4811777" y="8515"/>
                  </a:lnTo>
                  <a:lnTo>
                    <a:pt x="4770043" y="0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847655" y="4086593"/>
              <a:ext cx="4878070" cy="691515"/>
            </a:xfrm>
            <a:custGeom>
              <a:avLst/>
              <a:gdLst/>
              <a:ahLst/>
              <a:cxnLst/>
              <a:rect l="l" t="t" r="r" b="b"/>
              <a:pathLst>
                <a:path w="4878070" h="691514">
                  <a:moveTo>
                    <a:pt x="0" y="107657"/>
                  </a:moveTo>
                  <a:lnTo>
                    <a:pt x="8515" y="65917"/>
                  </a:lnTo>
                  <a:lnTo>
                    <a:pt x="31680" y="31678"/>
                  </a:lnTo>
                  <a:lnTo>
                    <a:pt x="65917" y="8515"/>
                  </a:lnTo>
                  <a:lnTo>
                    <a:pt x="107652" y="0"/>
                  </a:lnTo>
                  <a:lnTo>
                    <a:pt x="4770043" y="0"/>
                  </a:lnTo>
                  <a:lnTo>
                    <a:pt x="4811777" y="8515"/>
                  </a:lnTo>
                  <a:lnTo>
                    <a:pt x="4846012" y="31678"/>
                  </a:lnTo>
                  <a:lnTo>
                    <a:pt x="4869174" y="65917"/>
                  </a:lnTo>
                  <a:lnTo>
                    <a:pt x="4877689" y="107657"/>
                  </a:lnTo>
                  <a:lnTo>
                    <a:pt x="4877689" y="583806"/>
                  </a:lnTo>
                  <a:lnTo>
                    <a:pt x="4869174" y="625539"/>
                  </a:lnTo>
                  <a:lnTo>
                    <a:pt x="4846012" y="659774"/>
                  </a:lnTo>
                  <a:lnTo>
                    <a:pt x="4811777" y="682936"/>
                  </a:lnTo>
                  <a:lnTo>
                    <a:pt x="4770043" y="691451"/>
                  </a:lnTo>
                  <a:lnTo>
                    <a:pt x="107652" y="691451"/>
                  </a:lnTo>
                  <a:lnTo>
                    <a:pt x="65917" y="682936"/>
                  </a:lnTo>
                  <a:lnTo>
                    <a:pt x="31680" y="659774"/>
                  </a:lnTo>
                  <a:lnTo>
                    <a:pt x="8515" y="625539"/>
                  </a:lnTo>
                  <a:lnTo>
                    <a:pt x="0" y="583806"/>
                  </a:lnTo>
                  <a:lnTo>
                    <a:pt x="0" y="107657"/>
                  </a:lnTo>
                  <a:close/>
                </a:path>
              </a:pathLst>
            </a:custGeom>
            <a:ln w="14287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3968826" y="4213568"/>
            <a:ext cx="1728470" cy="436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Generate</a:t>
            </a:r>
            <a:r>
              <a:rPr dirty="0" sz="115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Challan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Calculate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fines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issue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receipts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7947025" y="4830445"/>
            <a:ext cx="1196975" cy="265430"/>
          </a:xfrm>
          <a:custGeom>
            <a:avLst/>
            <a:gdLst/>
            <a:ahLst/>
            <a:cxnLst/>
            <a:rect l="l" t="t" r="r" b="b"/>
            <a:pathLst>
              <a:path w="1196975" h="265429">
                <a:moveTo>
                  <a:pt x="1196975" y="0"/>
                </a:moveTo>
                <a:lnTo>
                  <a:pt x="0" y="0"/>
                </a:lnTo>
                <a:lnTo>
                  <a:pt x="0" y="265429"/>
                </a:lnTo>
                <a:lnTo>
                  <a:pt x="1196975" y="265429"/>
                </a:lnTo>
                <a:lnTo>
                  <a:pt x="1196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90205" y="4831715"/>
            <a:ext cx="1149985" cy="269240"/>
            <a:chOff x="7990205" y="4831715"/>
            <a:chExt cx="1149985" cy="2692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9181" y="4844491"/>
              <a:ext cx="1071843" cy="25603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990205" y="4831715"/>
              <a:ext cx="1149985" cy="250190"/>
            </a:xfrm>
            <a:custGeom>
              <a:avLst/>
              <a:gdLst/>
              <a:ahLst/>
              <a:cxnLst/>
              <a:rect l="l" t="t" r="r" b="b"/>
              <a:pathLst>
                <a:path w="1149984" h="250189">
                  <a:moveTo>
                    <a:pt x="1149985" y="0"/>
                  </a:moveTo>
                  <a:lnTo>
                    <a:pt x="0" y="0"/>
                  </a:lnTo>
                  <a:lnTo>
                    <a:pt x="0" y="250189"/>
                  </a:lnTo>
                  <a:lnTo>
                    <a:pt x="1149985" y="250189"/>
                  </a:lnTo>
                  <a:lnTo>
                    <a:pt x="11499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44500">
              <a:lnSpc>
                <a:spcPct val="100000"/>
              </a:lnSpc>
              <a:spcBef>
                <a:spcPts val="100"/>
              </a:spcBef>
            </a:pPr>
            <a:r>
              <a:rPr dirty="0" sz="2100"/>
              <a:t>Project</a:t>
            </a:r>
            <a:r>
              <a:rPr dirty="0" sz="2100" spc="-25"/>
              <a:t> </a:t>
            </a:r>
            <a:r>
              <a:rPr dirty="0" sz="2100" spc="-10"/>
              <a:t>Objectives</a:t>
            </a:r>
            <a:endParaRPr sz="2100"/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336" y="868560"/>
            <a:ext cx="4775301" cy="286517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859462" y="2056180"/>
            <a:ext cx="22688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system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is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designed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with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clear,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measurable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goals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to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modernize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how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traffic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violations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are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handled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in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a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digital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environment.</a:t>
            </a:r>
            <a:endParaRPr sz="8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8039" y="3923969"/>
            <a:ext cx="162744" cy="16273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167283" y="3910215"/>
            <a:ext cx="2101215" cy="393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Track </a:t>
            </a:r>
            <a:r>
              <a:rPr dirty="0" sz="1050" spc="-10">
                <a:solidFill>
                  <a:srgbClr val="E4DFDF"/>
                </a:solidFill>
                <a:latin typeface="Arial"/>
                <a:cs typeface="Arial"/>
              </a:rPr>
              <a:t>Violations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Maintain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a</a:t>
            </a:r>
            <a:r>
              <a:rPr dirty="0" sz="85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complete</a:t>
            </a:r>
            <a:r>
              <a:rPr dirty="0" sz="85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log</a:t>
            </a:r>
            <a:r>
              <a:rPr dirty="0" sz="85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of</a:t>
            </a:r>
            <a:r>
              <a:rPr dirty="0" sz="85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traffic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 infractions</a:t>
            </a:r>
            <a:endParaRPr sz="85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4570" y="3923969"/>
            <a:ext cx="162744" cy="162737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963820" y="3910215"/>
            <a:ext cx="2155190" cy="393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Manage</a:t>
            </a:r>
            <a:r>
              <a:rPr dirty="0" sz="1050" spc="-6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E4DFDF"/>
                </a:solidFill>
                <a:latin typeface="Arial"/>
                <a:cs typeface="Arial"/>
              </a:rPr>
              <a:t>Records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Store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driver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vehicle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information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securely</a:t>
            </a:r>
            <a:endParaRPr sz="85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8039" y="4462792"/>
            <a:ext cx="162744" cy="162737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167283" y="4449051"/>
            <a:ext cx="2503805" cy="393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E4DFDF"/>
                </a:solidFill>
                <a:latin typeface="Arial"/>
                <a:cs typeface="Arial"/>
              </a:rPr>
              <a:t>Calculate</a:t>
            </a:r>
            <a:r>
              <a:rPr dirty="0" sz="1050" spc="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E4DFDF"/>
                </a:solidFill>
                <a:latin typeface="Arial"/>
                <a:cs typeface="Arial"/>
              </a:rPr>
              <a:t>Penalties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Automatically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compute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fines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based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on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violation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type</a:t>
            </a:r>
            <a:endParaRPr sz="85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64570" y="4462792"/>
            <a:ext cx="162744" cy="162737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4963820" y="4449051"/>
            <a:ext cx="2131060" cy="393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Digital</a:t>
            </a:r>
            <a:r>
              <a:rPr dirty="0" sz="1050" spc="-6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E4DFDF"/>
                </a:solidFill>
                <a:latin typeface="Arial"/>
                <a:cs typeface="Arial"/>
              </a:rPr>
              <a:t>Challans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Generate</a:t>
            </a:r>
            <a:r>
              <a:rPr dirty="0" sz="85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85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print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challan</a:t>
            </a:r>
            <a:r>
              <a:rPr dirty="0" sz="85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receipts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instantly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2661" y="339752"/>
            <a:ext cx="2415540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/>
              <a:t>Problem</a:t>
            </a:r>
            <a:r>
              <a:rPr dirty="0" sz="2200" spc="-70"/>
              <a:t> </a:t>
            </a:r>
            <a:r>
              <a:rPr dirty="0" sz="2200" spc="-10"/>
              <a:t>Statement</a:t>
            </a:r>
            <a:endParaRPr sz="2200"/>
          </a:p>
        </p:txBody>
      </p:sp>
      <p:grpSp>
        <p:nvGrpSpPr>
          <p:cNvPr id="4" name="object 4" descr=""/>
          <p:cNvGrpSpPr/>
          <p:nvPr/>
        </p:nvGrpSpPr>
        <p:grpSpPr>
          <a:xfrm>
            <a:off x="381073" y="1251122"/>
            <a:ext cx="4946015" cy="661670"/>
            <a:chOff x="381073" y="1251122"/>
            <a:chExt cx="4946015" cy="661670"/>
          </a:xfrm>
        </p:grpSpPr>
        <p:sp>
          <p:nvSpPr>
            <p:cNvPr id="5" name="object 5" descr=""/>
            <p:cNvSpPr/>
            <p:nvPr/>
          </p:nvSpPr>
          <p:spPr>
            <a:xfrm>
              <a:off x="395361" y="1258266"/>
              <a:ext cx="4924425" cy="647700"/>
            </a:xfrm>
            <a:custGeom>
              <a:avLst/>
              <a:gdLst/>
              <a:ahLst/>
              <a:cxnLst/>
              <a:rect l="l" t="t" r="r" b="b"/>
              <a:pathLst>
                <a:path w="4924425" h="647700">
                  <a:moveTo>
                    <a:pt x="4855692" y="0"/>
                  </a:moveTo>
                  <a:lnTo>
                    <a:pt x="68577" y="0"/>
                  </a:lnTo>
                  <a:lnTo>
                    <a:pt x="41991" y="5425"/>
                  </a:lnTo>
                  <a:lnTo>
                    <a:pt x="20181" y="20183"/>
                  </a:lnTo>
                  <a:lnTo>
                    <a:pt x="5424" y="41994"/>
                  </a:lnTo>
                  <a:lnTo>
                    <a:pt x="0" y="68579"/>
                  </a:lnTo>
                  <a:lnTo>
                    <a:pt x="0" y="578751"/>
                  </a:lnTo>
                  <a:lnTo>
                    <a:pt x="5424" y="605337"/>
                  </a:lnTo>
                  <a:lnTo>
                    <a:pt x="20181" y="627148"/>
                  </a:lnTo>
                  <a:lnTo>
                    <a:pt x="41991" y="641906"/>
                  </a:lnTo>
                  <a:lnTo>
                    <a:pt x="68577" y="647331"/>
                  </a:lnTo>
                  <a:lnTo>
                    <a:pt x="4855692" y="647331"/>
                  </a:lnTo>
                  <a:lnTo>
                    <a:pt x="4882283" y="641906"/>
                  </a:lnTo>
                  <a:lnTo>
                    <a:pt x="4904093" y="627148"/>
                  </a:lnTo>
                  <a:lnTo>
                    <a:pt x="4918848" y="605337"/>
                  </a:lnTo>
                  <a:lnTo>
                    <a:pt x="4924272" y="578751"/>
                  </a:lnTo>
                  <a:lnTo>
                    <a:pt x="4924272" y="68579"/>
                  </a:lnTo>
                  <a:lnTo>
                    <a:pt x="4918848" y="41994"/>
                  </a:lnTo>
                  <a:lnTo>
                    <a:pt x="4904093" y="20183"/>
                  </a:lnTo>
                  <a:lnTo>
                    <a:pt x="4882283" y="5425"/>
                  </a:lnTo>
                  <a:lnTo>
                    <a:pt x="4855692" y="0"/>
                  </a:lnTo>
                  <a:close/>
                </a:path>
              </a:pathLst>
            </a:custGeom>
            <a:solidFill>
              <a:srgbClr val="030303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95361" y="1258266"/>
              <a:ext cx="4924425" cy="647700"/>
            </a:xfrm>
            <a:custGeom>
              <a:avLst/>
              <a:gdLst/>
              <a:ahLst/>
              <a:cxnLst/>
              <a:rect l="l" t="t" r="r" b="b"/>
              <a:pathLst>
                <a:path w="4924425" h="647700">
                  <a:moveTo>
                    <a:pt x="0" y="68579"/>
                  </a:moveTo>
                  <a:lnTo>
                    <a:pt x="5424" y="41994"/>
                  </a:lnTo>
                  <a:lnTo>
                    <a:pt x="20181" y="20183"/>
                  </a:lnTo>
                  <a:lnTo>
                    <a:pt x="41991" y="5425"/>
                  </a:lnTo>
                  <a:lnTo>
                    <a:pt x="68577" y="0"/>
                  </a:lnTo>
                  <a:lnTo>
                    <a:pt x="4855692" y="0"/>
                  </a:lnTo>
                  <a:lnTo>
                    <a:pt x="4882283" y="5425"/>
                  </a:lnTo>
                  <a:lnTo>
                    <a:pt x="4904093" y="20183"/>
                  </a:lnTo>
                  <a:lnTo>
                    <a:pt x="4918848" y="41994"/>
                  </a:lnTo>
                  <a:lnTo>
                    <a:pt x="4924272" y="68579"/>
                  </a:lnTo>
                  <a:lnTo>
                    <a:pt x="4924272" y="578751"/>
                  </a:lnTo>
                  <a:lnTo>
                    <a:pt x="4918848" y="605337"/>
                  </a:lnTo>
                  <a:lnTo>
                    <a:pt x="4904093" y="627148"/>
                  </a:lnTo>
                  <a:lnTo>
                    <a:pt x="4882283" y="641906"/>
                  </a:lnTo>
                  <a:lnTo>
                    <a:pt x="4855692" y="647331"/>
                  </a:lnTo>
                  <a:lnTo>
                    <a:pt x="68577" y="647331"/>
                  </a:lnTo>
                  <a:lnTo>
                    <a:pt x="41991" y="641906"/>
                  </a:lnTo>
                  <a:lnTo>
                    <a:pt x="20181" y="627148"/>
                  </a:lnTo>
                  <a:lnTo>
                    <a:pt x="5424" y="605337"/>
                  </a:lnTo>
                  <a:lnTo>
                    <a:pt x="0" y="578751"/>
                  </a:lnTo>
                  <a:lnTo>
                    <a:pt x="0" y="68579"/>
                  </a:lnTo>
                  <a:close/>
                </a:path>
              </a:pathLst>
            </a:custGeom>
            <a:ln w="14287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1073" y="1258266"/>
              <a:ext cx="57150" cy="647700"/>
            </a:xfrm>
            <a:custGeom>
              <a:avLst/>
              <a:gdLst/>
              <a:ahLst/>
              <a:cxnLst/>
              <a:rect l="l" t="t" r="r" b="b"/>
              <a:pathLst>
                <a:path w="57150" h="647700">
                  <a:moveTo>
                    <a:pt x="28574" y="0"/>
                  </a:moveTo>
                  <a:lnTo>
                    <a:pt x="17496" y="2260"/>
                  </a:lnTo>
                  <a:lnTo>
                    <a:pt x="8409" y="8410"/>
                  </a:lnTo>
                  <a:lnTo>
                    <a:pt x="2260" y="17498"/>
                  </a:lnTo>
                  <a:lnTo>
                    <a:pt x="0" y="28575"/>
                  </a:lnTo>
                  <a:lnTo>
                    <a:pt x="0" y="618756"/>
                  </a:lnTo>
                  <a:lnTo>
                    <a:pt x="2260" y="629833"/>
                  </a:lnTo>
                  <a:lnTo>
                    <a:pt x="8409" y="638921"/>
                  </a:lnTo>
                  <a:lnTo>
                    <a:pt x="17496" y="645070"/>
                  </a:lnTo>
                  <a:lnTo>
                    <a:pt x="28575" y="647331"/>
                  </a:lnTo>
                  <a:lnTo>
                    <a:pt x="39652" y="645070"/>
                  </a:lnTo>
                  <a:lnTo>
                    <a:pt x="48740" y="638921"/>
                  </a:lnTo>
                  <a:lnTo>
                    <a:pt x="54889" y="629833"/>
                  </a:lnTo>
                  <a:lnTo>
                    <a:pt x="57150" y="618756"/>
                  </a:lnTo>
                  <a:lnTo>
                    <a:pt x="57150" y="28575"/>
                  </a:lnTo>
                  <a:lnTo>
                    <a:pt x="54889" y="17498"/>
                  </a:lnTo>
                  <a:lnTo>
                    <a:pt x="48740" y="8410"/>
                  </a:lnTo>
                  <a:lnTo>
                    <a:pt x="39652" y="2260"/>
                  </a:lnTo>
                  <a:lnTo>
                    <a:pt x="28574" y="0"/>
                  </a:lnTo>
                  <a:close/>
                </a:path>
              </a:pathLst>
            </a:custGeom>
            <a:solidFill>
              <a:srgbClr val="FB83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82661" y="817335"/>
            <a:ext cx="4913630" cy="96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500"/>
              </a:lnSpc>
              <a:spcBef>
                <a:spcPts val="100"/>
              </a:spcBef>
            </a:pP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Traditional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traffic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fine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systems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rely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heavily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on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manual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processes,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creating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inefficiencies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that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affect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both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enforcement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officers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citizens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alike.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850">
              <a:latin typeface="Arial"/>
              <a:cs typeface="Arial"/>
            </a:endParaRPr>
          </a:p>
          <a:p>
            <a:pPr marL="182245">
              <a:lnSpc>
                <a:spcPct val="100000"/>
              </a:lnSpc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Manual</a:t>
            </a:r>
            <a:r>
              <a:rPr dirty="0" sz="1100" spc="-6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Paperwork</a:t>
            </a:r>
            <a:endParaRPr sz="1100">
              <a:latin typeface="Arial"/>
              <a:cs typeface="Arial"/>
            </a:endParaRPr>
          </a:p>
          <a:p>
            <a:pPr marL="182245">
              <a:lnSpc>
                <a:spcPct val="100000"/>
              </a:lnSpc>
              <a:spcBef>
                <a:spcPts val="700"/>
              </a:spcBef>
            </a:pP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Physical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forms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are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slow,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error-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prone,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difficult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to</a:t>
            </a:r>
            <a:r>
              <a:rPr dirty="0" sz="8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scale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81073" y="1988419"/>
            <a:ext cx="4946015" cy="661670"/>
            <a:chOff x="381073" y="1988419"/>
            <a:chExt cx="4946015" cy="661670"/>
          </a:xfrm>
        </p:grpSpPr>
        <p:sp>
          <p:nvSpPr>
            <p:cNvPr id="10" name="object 10" descr=""/>
            <p:cNvSpPr/>
            <p:nvPr/>
          </p:nvSpPr>
          <p:spPr>
            <a:xfrm>
              <a:off x="395361" y="1995563"/>
              <a:ext cx="4924425" cy="647700"/>
            </a:xfrm>
            <a:custGeom>
              <a:avLst/>
              <a:gdLst/>
              <a:ahLst/>
              <a:cxnLst/>
              <a:rect l="l" t="t" r="r" b="b"/>
              <a:pathLst>
                <a:path w="4924425" h="647700">
                  <a:moveTo>
                    <a:pt x="4855692" y="0"/>
                  </a:moveTo>
                  <a:lnTo>
                    <a:pt x="68577" y="0"/>
                  </a:lnTo>
                  <a:lnTo>
                    <a:pt x="41991" y="5425"/>
                  </a:lnTo>
                  <a:lnTo>
                    <a:pt x="20181" y="20183"/>
                  </a:lnTo>
                  <a:lnTo>
                    <a:pt x="5424" y="41994"/>
                  </a:lnTo>
                  <a:lnTo>
                    <a:pt x="0" y="68579"/>
                  </a:lnTo>
                  <a:lnTo>
                    <a:pt x="0" y="578751"/>
                  </a:lnTo>
                  <a:lnTo>
                    <a:pt x="5424" y="605337"/>
                  </a:lnTo>
                  <a:lnTo>
                    <a:pt x="20181" y="627148"/>
                  </a:lnTo>
                  <a:lnTo>
                    <a:pt x="41991" y="641906"/>
                  </a:lnTo>
                  <a:lnTo>
                    <a:pt x="68577" y="647331"/>
                  </a:lnTo>
                  <a:lnTo>
                    <a:pt x="4855692" y="647331"/>
                  </a:lnTo>
                  <a:lnTo>
                    <a:pt x="4882283" y="641906"/>
                  </a:lnTo>
                  <a:lnTo>
                    <a:pt x="4904093" y="627148"/>
                  </a:lnTo>
                  <a:lnTo>
                    <a:pt x="4918848" y="605337"/>
                  </a:lnTo>
                  <a:lnTo>
                    <a:pt x="4924272" y="578751"/>
                  </a:lnTo>
                  <a:lnTo>
                    <a:pt x="4924272" y="68579"/>
                  </a:lnTo>
                  <a:lnTo>
                    <a:pt x="4918848" y="41994"/>
                  </a:lnTo>
                  <a:lnTo>
                    <a:pt x="4904093" y="20183"/>
                  </a:lnTo>
                  <a:lnTo>
                    <a:pt x="4882283" y="5425"/>
                  </a:lnTo>
                  <a:lnTo>
                    <a:pt x="4855692" y="0"/>
                  </a:lnTo>
                  <a:close/>
                </a:path>
              </a:pathLst>
            </a:custGeom>
            <a:solidFill>
              <a:srgbClr val="030303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95361" y="1995563"/>
              <a:ext cx="4924425" cy="647700"/>
            </a:xfrm>
            <a:custGeom>
              <a:avLst/>
              <a:gdLst/>
              <a:ahLst/>
              <a:cxnLst/>
              <a:rect l="l" t="t" r="r" b="b"/>
              <a:pathLst>
                <a:path w="4924425" h="647700">
                  <a:moveTo>
                    <a:pt x="0" y="68579"/>
                  </a:moveTo>
                  <a:lnTo>
                    <a:pt x="5424" y="41994"/>
                  </a:lnTo>
                  <a:lnTo>
                    <a:pt x="20181" y="20183"/>
                  </a:lnTo>
                  <a:lnTo>
                    <a:pt x="41991" y="5425"/>
                  </a:lnTo>
                  <a:lnTo>
                    <a:pt x="68577" y="0"/>
                  </a:lnTo>
                  <a:lnTo>
                    <a:pt x="4855692" y="0"/>
                  </a:lnTo>
                  <a:lnTo>
                    <a:pt x="4882283" y="5425"/>
                  </a:lnTo>
                  <a:lnTo>
                    <a:pt x="4904093" y="20183"/>
                  </a:lnTo>
                  <a:lnTo>
                    <a:pt x="4918848" y="41994"/>
                  </a:lnTo>
                  <a:lnTo>
                    <a:pt x="4924272" y="68579"/>
                  </a:lnTo>
                  <a:lnTo>
                    <a:pt x="4924272" y="578751"/>
                  </a:lnTo>
                  <a:lnTo>
                    <a:pt x="4918848" y="605337"/>
                  </a:lnTo>
                  <a:lnTo>
                    <a:pt x="4904093" y="627148"/>
                  </a:lnTo>
                  <a:lnTo>
                    <a:pt x="4882283" y="641906"/>
                  </a:lnTo>
                  <a:lnTo>
                    <a:pt x="4855692" y="647331"/>
                  </a:lnTo>
                  <a:lnTo>
                    <a:pt x="68577" y="647331"/>
                  </a:lnTo>
                  <a:lnTo>
                    <a:pt x="41991" y="641906"/>
                  </a:lnTo>
                  <a:lnTo>
                    <a:pt x="20181" y="627148"/>
                  </a:lnTo>
                  <a:lnTo>
                    <a:pt x="5424" y="605337"/>
                  </a:lnTo>
                  <a:lnTo>
                    <a:pt x="0" y="578751"/>
                  </a:lnTo>
                  <a:lnTo>
                    <a:pt x="0" y="68579"/>
                  </a:lnTo>
                  <a:close/>
                </a:path>
              </a:pathLst>
            </a:custGeom>
            <a:ln w="14287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1073" y="1995563"/>
              <a:ext cx="57150" cy="647700"/>
            </a:xfrm>
            <a:custGeom>
              <a:avLst/>
              <a:gdLst/>
              <a:ahLst/>
              <a:cxnLst/>
              <a:rect l="l" t="t" r="r" b="b"/>
              <a:pathLst>
                <a:path w="57150" h="647700">
                  <a:moveTo>
                    <a:pt x="28574" y="0"/>
                  </a:moveTo>
                  <a:lnTo>
                    <a:pt x="17496" y="2260"/>
                  </a:lnTo>
                  <a:lnTo>
                    <a:pt x="8409" y="8410"/>
                  </a:lnTo>
                  <a:lnTo>
                    <a:pt x="2260" y="17498"/>
                  </a:lnTo>
                  <a:lnTo>
                    <a:pt x="0" y="28575"/>
                  </a:lnTo>
                  <a:lnTo>
                    <a:pt x="0" y="618756"/>
                  </a:lnTo>
                  <a:lnTo>
                    <a:pt x="2260" y="629833"/>
                  </a:lnTo>
                  <a:lnTo>
                    <a:pt x="8409" y="638921"/>
                  </a:lnTo>
                  <a:lnTo>
                    <a:pt x="17496" y="645070"/>
                  </a:lnTo>
                  <a:lnTo>
                    <a:pt x="28575" y="647331"/>
                  </a:lnTo>
                  <a:lnTo>
                    <a:pt x="39652" y="645070"/>
                  </a:lnTo>
                  <a:lnTo>
                    <a:pt x="48740" y="638921"/>
                  </a:lnTo>
                  <a:lnTo>
                    <a:pt x="54889" y="629833"/>
                  </a:lnTo>
                  <a:lnTo>
                    <a:pt x="57150" y="618756"/>
                  </a:lnTo>
                  <a:lnTo>
                    <a:pt x="57150" y="28575"/>
                  </a:lnTo>
                  <a:lnTo>
                    <a:pt x="54889" y="17498"/>
                  </a:lnTo>
                  <a:lnTo>
                    <a:pt x="48740" y="8410"/>
                  </a:lnTo>
                  <a:lnTo>
                    <a:pt x="39652" y="2260"/>
                  </a:lnTo>
                  <a:lnTo>
                    <a:pt x="28574" y="0"/>
                  </a:lnTo>
                  <a:close/>
                </a:path>
              </a:pathLst>
            </a:custGeom>
            <a:solidFill>
              <a:srgbClr val="FB83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52771" y="2110955"/>
            <a:ext cx="3143885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Data</a:t>
            </a:r>
            <a:r>
              <a:rPr dirty="0" sz="11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Loss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Risk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Paper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records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are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vulnerable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to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damage,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loss,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misplacement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81073" y="2725705"/>
            <a:ext cx="4946015" cy="661670"/>
            <a:chOff x="381073" y="2725705"/>
            <a:chExt cx="4946015" cy="661670"/>
          </a:xfrm>
        </p:grpSpPr>
        <p:sp>
          <p:nvSpPr>
            <p:cNvPr id="15" name="object 15" descr=""/>
            <p:cNvSpPr/>
            <p:nvPr/>
          </p:nvSpPr>
          <p:spPr>
            <a:xfrm>
              <a:off x="395361" y="2732849"/>
              <a:ext cx="4924425" cy="647700"/>
            </a:xfrm>
            <a:custGeom>
              <a:avLst/>
              <a:gdLst/>
              <a:ahLst/>
              <a:cxnLst/>
              <a:rect l="l" t="t" r="r" b="b"/>
              <a:pathLst>
                <a:path w="4924425" h="647700">
                  <a:moveTo>
                    <a:pt x="4855692" y="0"/>
                  </a:moveTo>
                  <a:lnTo>
                    <a:pt x="68577" y="0"/>
                  </a:lnTo>
                  <a:lnTo>
                    <a:pt x="41991" y="5425"/>
                  </a:lnTo>
                  <a:lnTo>
                    <a:pt x="20181" y="20183"/>
                  </a:lnTo>
                  <a:lnTo>
                    <a:pt x="5424" y="41994"/>
                  </a:lnTo>
                  <a:lnTo>
                    <a:pt x="0" y="68579"/>
                  </a:lnTo>
                  <a:lnTo>
                    <a:pt x="0" y="578751"/>
                  </a:lnTo>
                  <a:lnTo>
                    <a:pt x="5424" y="605337"/>
                  </a:lnTo>
                  <a:lnTo>
                    <a:pt x="20181" y="627148"/>
                  </a:lnTo>
                  <a:lnTo>
                    <a:pt x="41991" y="641906"/>
                  </a:lnTo>
                  <a:lnTo>
                    <a:pt x="68577" y="647331"/>
                  </a:lnTo>
                  <a:lnTo>
                    <a:pt x="4855692" y="647331"/>
                  </a:lnTo>
                  <a:lnTo>
                    <a:pt x="4882283" y="641906"/>
                  </a:lnTo>
                  <a:lnTo>
                    <a:pt x="4904093" y="627148"/>
                  </a:lnTo>
                  <a:lnTo>
                    <a:pt x="4918848" y="605337"/>
                  </a:lnTo>
                  <a:lnTo>
                    <a:pt x="4924272" y="578751"/>
                  </a:lnTo>
                  <a:lnTo>
                    <a:pt x="4924272" y="68579"/>
                  </a:lnTo>
                  <a:lnTo>
                    <a:pt x="4918848" y="41994"/>
                  </a:lnTo>
                  <a:lnTo>
                    <a:pt x="4904093" y="20183"/>
                  </a:lnTo>
                  <a:lnTo>
                    <a:pt x="4882283" y="5425"/>
                  </a:lnTo>
                  <a:lnTo>
                    <a:pt x="4855692" y="0"/>
                  </a:lnTo>
                  <a:close/>
                </a:path>
              </a:pathLst>
            </a:custGeom>
            <a:solidFill>
              <a:srgbClr val="030303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95361" y="2732849"/>
              <a:ext cx="4924425" cy="647700"/>
            </a:xfrm>
            <a:custGeom>
              <a:avLst/>
              <a:gdLst/>
              <a:ahLst/>
              <a:cxnLst/>
              <a:rect l="l" t="t" r="r" b="b"/>
              <a:pathLst>
                <a:path w="4924425" h="647700">
                  <a:moveTo>
                    <a:pt x="0" y="68579"/>
                  </a:moveTo>
                  <a:lnTo>
                    <a:pt x="5424" y="41994"/>
                  </a:lnTo>
                  <a:lnTo>
                    <a:pt x="20181" y="20183"/>
                  </a:lnTo>
                  <a:lnTo>
                    <a:pt x="41991" y="5425"/>
                  </a:lnTo>
                  <a:lnTo>
                    <a:pt x="68577" y="0"/>
                  </a:lnTo>
                  <a:lnTo>
                    <a:pt x="4855692" y="0"/>
                  </a:lnTo>
                  <a:lnTo>
                    <a:pt x="4882283" y="5425"/>
                  </a:lnTo>
                  <a:lnTo>
                    <a:pt x="4904093" y="20183"/>
                  </a:lnTo>
                  <a:lnTo>
                    <a:pt x="4918848" y="41994"/>
                  </a:lnTo>
                  <a:lnTo>
                    <a:pt x="4924272" y="68579"/>
                  </a:lnTo>
                  <a:lnTo>
                    <a:pt x="4924272" y="578751"/>
                  </a:lnTo>
                  <a:lnTo>
                    <a:pt x="4918848" y="605337"/>
                  </a:lnTo>
                  <a:lnTo>
                    <a:pt x="4904093" y="627148"/>
                  </a:lnTo>
                  <a:lnTo>
                    <a:pt x="4882283" y="641906"/>
                  </a:lnTo>
                  <a:lnTo>
                    <a:pt x="4855692" y="647331"/>
                  </a:lnTo>
                  <a:lnTo>
                    <a:pt x="68577" y="647331"/>
                  </a:lnTo>
                  <a:lnTo>
                    <a:pt x="41991" y="641906"/>
                  </a:lnTo>
                  <a:lnTo>
                    <a:pt x="20181" y="627148"/>
                  </a:lnTo>
                  <a:lnTo>
                    <a:pt x="5424" y="605337"/>
                  </a:lnTo>
                  <a:lnTo>
                    <a:pt x="0" y="578751"/>
                  </a:lnTo>
                  <a:lnTo>
                    <a:pt x="0" y="68579"/>
                  </a:lnTo>
                  <a:close/>
                </a:path>
              </a:pathLst>
            </a:custGeom>
            <a:ln w="14287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1073" y="2732849"/>
              <a:ext cx="57150" cy="647700"/>
            </a:xfrm>
            <a:custGeom>
              <a:avLst/>
              <a:gdLst/>
              <a:ahLst/>
              <a:cxnLst/>
              <a:rect l="l" t="t" r="r" b="b"/>
              <a:pathLst>
                <a:path w="57150" h="647700">
                  <a:moveTo>
                    <a:pt x="28574" y="0"/>
                  </a:moveTo>
                  <a:lnTo>
                    <a:pt x="17496" y="2260"/>
                  </a:lnTo>
                  <a:lnTo>
                    <a:pt x="8409" y="8410"/>
                  </a:lnTo>
                  <a:lnTo>
                    <a:pt x="2260" y="17498"/>
                  </a:lnTo>
                  <a:lnTo>
                    <a:pt x="0" y="28575"/>
                  </a:lnTo>
                  <a:lnTo>
                    <a:pt x="0" y="618756"/>
                  </a:lnTo>
                  <a:lnTo>
                    <a:pt x="2260" y="629833"/>
                  </a:lnTo>
                  <a:lnTo>
                    <a:pt x="8409" y="638921"/>
                  </a:lnTo>
                  <a:lnTo>
                    <a:pt x="17496" y="645070"/>
                  </a:lnTo>
                  <a:lnTo>
                    <a:pt x="28575" y="647331"/>
                  </a:lnTo>
                  <a:lnTo>
                    <a:pt x="39652" y="645070"/>
                  </a:lnTo>
                  <a:lnTo>
                    <a:pt x="48740" y="638921"/>
                  </a:lnTo>
                  <a:lnTo>
                    <a:pt x="54889" y="629833"/>
                  </a:lnTo>
                  <a:lnTo>
                    <a:pt x="57150" y="618756"/>
                  </a:lnTo>
                  <a:lnTo>
                    <a:pt x="57150" y="28575"/>
                  </a:lnTo>
                  <a:lnTo>
                    <a:pt x="54889" y="17498"/>
                  </a:lnTo>
                  <a:lnTo>
                    <a:pt x="48740" y="8410"/>
                  </a:lnTo>
                  <a:lnTo>
                    <a:pt x="39652" y="2260"/>
                  </a:lnTo>
                  <a:lnTo>
                    <a:pt x="28574" y="0"/>
                  </a:lnTo>
                  <a:close/>
                </a:path>
              </a:pathLst>
            </a:custGeom>
            <a:solidFill>
              <a:srgbClr val="FB83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52771" y="2848254"/>
            <a:ext cx="3157855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Slow</a:t>
            </a:r>
            <a:r>
              <a:rPr dirty="0" sz="110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Fine</a:t>
            </a:r>
            <a:r>
              <a:rPr dirty="0" sz="11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Calculation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Manual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computation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leads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to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delays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potential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miscalculations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381073" y="3463004"/>
            <a:ext cx="4946015" cy="661670"/>
            <a:chOff x="381073" y="3463004"/>
            <a:chExt cx="4946015" cy="661670"/>
          </a:xfrm>
        </p:grpSpPr>
        <p:sp>
          <p:nvSpPr>
            <p:cNvPr id="20" name="object 20" descr=""/>
            <p:cNvSpPr/>
            <p:nvPr/>
          </p:nvSpPr>
          <p:spPr>
            <a:xfrm>
              <a:off x="395361" y="3470147"/>
              <a:ext cx="4924425" cy="647700"/>
            </a:xfrm>
            <a:custGeom>
              <a:avLst/>
              <a:gdLst/>
              <a:ahLst/>
              <a:cxnLst/>
              <a:rect l="l" t="t" r="r" b="b"/>
              <a:pathLst>
                <a:path w="4924425" h="647700">
                  <a:moveTo>
                    <a:pt x="4855692" y="0"/>
                  </a:moveTo>
                  <a:lnTo>
                    <a:pt x="68577" y="0"/>
                  </a:lnTo>
                  <a:lnTo>
                    <a:pt x="41991" y="5425"/>
                  </a:lnTo>
                  <a:lnTo>
                    <a:pt x="20181" y="20183"/>
                  </a:lnTo>
                  <a:lnTo>
                    <a:pt x="5424" y="41994"/>
                  </a:lnTo>
                  <a:lnTo>
                    <a:pt x="0" y="68579"/>
                  </a:lnTo>
                  <a:lnTo>
                    <a:pt x="0" y="578751"/>
                  </a:lnTo>
                  <a:lnTo>
                    <a:pt x="5424" y="605337"/>
                  </a:lnTo>
                  <a:lnTo>
                    <a:pt x="20181" y="627148"/>
                  </a:lnTo>
                  <a:lnTo>
                    <a:pt x="41991" y="641906"/>
                  </a:lnTo>
                  <a:lnTo>
                    <a:pt x="68577" y="647331"/>
                  </a:lnTo>
                  <a:lnTo>
                    <a:pt x="4855692" y="647331"/>
                  </a:lnTo>
                  <a:lnTo>
                    <a:pt x="4882283" y="641906"/>
                  </a:lnTo>
                  <a:lnTo>
                    <a:pt x="4904093" y="627148"/>
                  </a:lnTo>
                  <a:lnTo>
                    <a:pt x="4918848" y="605337"/>
                  </a:lnTo>
                  <a:lnTo>
                    <a:pt x="4924272" y="578751"/>
                  </a:lnTo>
                  <a:lnTo>
                    <a:pt x="4924272" y="68579"/>
                  </a:lnTo>
                  <a:lnTo>
                    <a:pt x="4918848" y="41994"/>
                  </a:lnTo>
                  <a:lnTo>
                    <a:pt x="4904093" y="20183"/>
                  </a:lnTo>
                  <a:lnTo>
                    <a:pt x="4882283" y="5425"/>
                  </a:lnTo>
                  <a:lnTo>
                    <a:pt x="4855692" y="0"/>
                  </a:lnTo>
                  <a:close/>
                </a:path>
              </a:pathLst>
            </a:custGeom>
            <a:solidFill>
              <a:srgbClr val="030303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95361" y="3470147"/>
              <a:ext cx="4924425" cy="647700"/>
            </a:xfrm>
            <a:custGeom>
              <a:avLst/>
              <a:gdLst/>
              <a:ahLst/>
              <a:cxnLst/>
              <a:rect l="l" t="t" r="r" b="b"/>
              <a:pathLst>
                <a:path w="4924425" h="647700">
                  <a:moveTo>
                    <a:pt x="0" y="68579"/>
                  </a:moveTo>
                  <a:lnTo>
                    <a:pt x="5424" y="41994"/>
                  </a:lnTo>
                  <a:lnTo>
                    <a:pt x="20181" y="20183"/>
                  </a:lnTo>
                  <a:lnTo>
                    <a:pt x="41991" y="5425"/>
                  </a:lnTo>
                  <a:lnTo>
                    <a:pt x="68577" y="0"/>
                  </a:lnTo>
                  <a:lnTo>
                    <a:pt x="4855692" y="0"/>
                  </a:lnTo>
                  <a:lnTo>
                    <a:pt x="4882283" y="5425"/>
                  </a:lnTo>
                  <a:lnTo>
                    <a:pt x="4904093" y="20183"/>
                  </a:lnTo>
                  <a:lnTo>
                    <a:pt x="4918848" y="41994"/>
                  </a:lnTo>
                  <a:lnTo>
                    <a:pt x="4924272" y="68579"/>
                  </a:lnTo>
                  <a:lnTo>
                    <a:pt x="4924272" y="578751"/>
                  </a:lnTo>
                  <a:lnTo>
                    <a:pt x="4918848" y="605337"/>
                  </a:lnTo>
                  <a:lnTo>
                    <a:pt x="4904093" y="627148"/>
                  </a:lnTo>
                  <a:lnTo>
                    <a:pt x="4882283" y="641906"/>
                  </a:lnTo>
                  <a:lnTo>
                    <a:pt x="4855692" y="647331"/>
                  </a:lnTo>
                  <a:lnTo>
                    <a:pt x="68577" y="647331"/>
                  </a:lnTo>
                  <a:lnTo>
                    <a:pt x="41991" y="641906"/>
                  </a:lnTo>
                  <a:lnTo>
                    <a:pt x="20181" y="627148"/>
                  </a:lnTo>
                  <a:lnTo>
                    <a:pt x="5424" y="605337"/>
                  </a:lnTo>
                  <a:lnTo>
                    <a:pt x="0" y="578751"/>
                  </a:lnTo>
                  <a:lnTo>
                    <a:pt x="0" y="68579"/>
                  </a:lnTo>
                  <a:close/>
                </a:path>
              </a:pathLst>
            </a:custGeom>
            <a:ln w="14287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81073" y="3470147"/>
              <a:ext cx="57150" cy="647700"/>
            </a:xfrm>
            <a:custGeom>
              <a:avLst/>
              <a:gdLst/>
              <a:ahLst/>
              <a:cxnLst/>
              <a:rect l="l" t="t" r="r" b="b"/>
              <a:pathLst>
                <a:path w="57150" h="647700">
                  <a:moveTo>
                    <a:pt x="28574" y="0"/>
                  </a:moveTo>
                  <a:lnTo>
                    <a:pt x="17496" y="2260"/>
                  </a:lnTo>
                  <a:lnTo>
                    <a:pt x="8409" y="8410"/>
                  </a:lnTo>
                  <a:lnTo>
                    <a:pt x="2260" y="17498"/>
                  </a:lnTo>
                  <a:lnTo>
                    <a:pt x="0" y="28575"/>
                  </a:lnTo>
                  <a:lnTo>
                    <a:pt x="0" y="618756"/>
                  </a:lnTo>
                  <a:lnTo>
                    <a:pt x="2260" y="629833"/>
                  </a:lnTo>
                  <a:lnTo>
                    <a:pt x="8409" y="638921"/>
                  </a:lnTo>
                  <a:lnTo>
                    <a:pt x="17496" y="645070"/>
                  </a:lnTo>
                  <a:lnTo>
                    <a:pt x="28575" y="647331"/>
                  </a:lnTo>
                  <a:lnTo>
                    <a:pt x="39652" y="645070"/>
                  </a:lnTo>
                  <a:lnTo>
                    <a:pt x="48740" y="638921"/>
                  </a:lnTo>
                  <a:lnTo>
                    <a:pt x="54889" y="629833"/>
                  </a:lnTo>
                  <a:lnTo>
                    <a:pt x="57150" y="618756"/>
                  </a:lnTo>
                  <a:lnTo>
                    <a:pt x="57150" y="28575"/>
                  </a:lnTo>
                  <a:lnTo>
                    <a:pt x="54889" y="17498"/>
                  </a:lnTo>
                  <a:lnTo>
                    <a:pt x="48740" y="8410"/>
                  </a:lnTo>
                  <a:lnTo>
                    <a:pt x="39652" y="2260"/>
                  </a:lnTo>
                  <a:lnTo>
                    <a:pt x="28574" y="0"/>
                  </a:lnTo>
                  <a:close/>
                </a:path>
              </a:pathLst>
            </a:custGeom>
            <a:solidFill>
              <a:srgbClr val="FB83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52771" y="3585552"/>
            <a:ext cx="3120390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Poor</a:t>
            </a:r>
            <a:r>
              <a:rPr dirty="0" sz="11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Record</a:t>
            </a:r>
            <a:r>
              <a:rPr dirty="0" sz="11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Management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No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centralized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system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to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search,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sort,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E4DFDF"/>
                </a:solidFill>
                <a:latin typeface="Arial"/>
                <a:cs typeface="Arial"/>
              </a:rPr>
              <a:t>or</a:t>
            </a:r>
            <a:r>
              <a:rPr dirty="0" sz="8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4DFDF"/>
                </a:solidFill>
                <a:latin typeface="Arial"/>
                <a:cs typeface="Arial"/>
              </a:rPr>
              <a:t>retrieve violation history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395361" y="4218685"/>
            <a:ext cx="4924425" cy="580390"/>
            <a:chOff x="395361" y="4218685"/>
            <a:chExt cx="4924425" cy="580390"/>
          </a:xfrm>
        </p:grpSpPr>
        <p:sp>
          <p:nvSpPr>
            <p:cNvPr id="25" name="object 25" descr=""/>
            <p:cNvSpPr/>
            <p:nvPr/>
          </p:nvSpPr>
          <p:spPr>
            <a:xfrm>
              <a:off x="395361" y="4218685"/>
              <a:ext cx="4924425" cy="580390"/>
            </a:xfrm>
            <a:custGeom>
              <a:avLst/>
              <a:gdLst/>
              <a:ahLst/>
              <a:cxnLst/>
              <a:rect l="l" t="t" r="r" b="b"/>
              <a:pathLst>
                <a:path w="4924425" h="580389">
                  <a:moveTo>
                    <a:pt x="4822609" y="0"/>
                  </a:moveTo>
                  <a:lnTo>
                    <a:pt x="101672" y="0"/>
                  </a:lnTo>
                  <a:lnTo>
                    <a:pt x="62255" y="8043"/>
                  </a:lnTo>
                  <a:lnTo>
                    <a:pt x="29920" y="29921"/>
                  </a:lnTo>
                  <a:lnTo>
                    <a:pt x="8042" y="62257"/>
                  </a:lnTo>
                  <a:lnTo>
                    <a:pt x="0" y="101676"/>
                  </a:lnTo>
                  <a:lnTo>
                    <a:pt x="0" y="478688"/>
                  </a:lnTo>
                  <a:lnTo>
                    <a:pt x="8042" y="518099"/>
                  </a:lnTo>
                  <a:lnTo>
                    <a:pt x="29920" y="550432"/>
                  </a:lnTo>
                  <a:lnTo>
                    <a:pt x="62255" y="572309"/>
                  </a:lnTo>
                  <a:lnTo>
                    <a:pt x="101672" y="580351"/>
                  </a:lnTo>
                  <a:lnTo>
                    <a:pt x="4822609" y="580351"/>
                  </a:lnTo>
                  <a:lnTo>
                    <a:pt x="4862020" y="572309"/>
                  </a:lnTo>
                  <a:lnTo>
                    <a:pt x="4894352" y="550432"/>
                  </a:lnTo>
                  <a:lnTo>
                    <a:pt x="4916229" y="518099"/>
                  </a:lnTo>
                  <a:lnTo>
                    <a:pt x="4924272" y="478688"/>
                  </a:lnTo>
                  <a:lnTo>
                    <a:pt x="4924272" y="101676"/>
                  </a:lnTo>
                  <a:lnTo>
                    <a:pt x="4916229" y="62257"/>
                  </a:lnTo>
                  <a:lnTo>
                    <a:pt x="4894352" y="29921"/>
                  </a:lnTo>
                  <a:lnTo>
                    <a:pt x="4862020" y="8043"/>
                  </a:lnTo>
                  <a:lnTo>
                    <a:pt x="4822609" y="0"/>
                  </a:lnTo>
                  <a:close/>
                </a:path>
              </a:pathLst>
            </a:custGeom>
            <a:solidFill>
              <a:srgbClr val="17391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321" y="4380014"/>
              <a:ext cx="141163" cy="112966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749745" y="4321860"/>
            <a:ext cx="4032885" cy="342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500"/>
              </a:lnSpc>
              <a:spcBef>
                <a:spcPts val="100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dirty="0" sz="8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Solution:</a:t>
            </a:r>
            <a:r>
              <a:rPr dirty="0" sz="8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"/>
                <a:cs typeface="Arial"/>
              </a:rPr>
              <a:t>Automating</a:t>
            </a:r>
            <a:r>
              <a:rPr dirty="0" sz="8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8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entire</a:t>
            </a:r>
            <a:r>
              <a:rPr dirty="0" sz="8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8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eliminates</a:t>
            </a:r>
            <a:r>
              <a:rPr dirty="0" sz="8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dirty="0" sz="8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inefficiencies</a:t>
            </a:r>
            <a:r>
              <a:rPr dirty="0" sz="8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"/>
                <a:cs typeface="Arial"/>
              </a:rPr>
              <a:t>through structured</a:t>
            </a:r>
            <a:r>
              <a:rPr dirty="0" sz="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OOP</a:t>
            </a:r>
            <a:r>
              <a:rPr dirty="0" sz="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r>
              <a:rPr dirty="0" sz="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FFFFFF"/>
                </a:solidFill>
                <a:latin typeface="Arial"/>
                <a:cs typeface="Arial"/>
              </a:rPr>
              <a:t>C++.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36865" y="4805679"/>
            <a:ext cx="1195705" cy="295275"/>
            <a:chOff x="7936865" y="4805679"/>
            <a:chExt cx="1195705" cy="2952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9181" y="4844491"/>
              <a:ext cx="1071843" cy="25603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936865" y="4805679"/>
              <a:ext cx="1195705" cy="245110"/>
            </a:xfrm>
            <a:custGeom>
              <a:avLst/>
              <a:gdLst/>
              <a:ahLst/>
              <a:cxnLst/>
              <a:rect l="l" t="t" r="r" b="b"/>
              <a:pathLst>
                <a:path w="1195704" h="245110">
                  <a:moveTo>
                    <a:pt x="1195705" y="0"/>
                  </a:moveTo>
                  <a:lnTo>
                    <a:pt x="0" y="0"/>
                  </a:lnTo>
                  <a:lnTo>
                    <a:pt x="0" y="245110"/>
                  </a:lnTo>
                  <a:lnTo>
                    <a:pt x="1195705" y="245110"/>
                  </a:lnTo>
                  <a:lnTo>
                    <a:pt x="11957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3419" y="651718"/>
            <a:ext cx="4486275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OOP</a:t>
            </a:r>
            <a:r>
              <a:rPr dirty="0" sz="2750" spc="-25"/>
              <a:t> </a:t>
            </a:r>
            <a:r>
              <a:rPr dirty="0" sz="2750"/>
              <a:t>Concepts</a:t>
            </a:r>
            <a:r>
              <a:rPr dirty="0" sz="2750" spc="-25"/>
              <a:t> </a:t>
            </a:r>
            <a:r>
              <a:rPr dirty="0" sz="2750" spc="-10"/>
              <a:t>Implemented</a:t>
            </a:r>
            <a:endParaRPr sz="2750"/>
          </a:p>
        </p:txBody>
      </p:sp>
      <p:sp>
        <p:nvSpPr>
          <p:cNvPr id="6" name="object 6" descr=""/>
          <p:cNvSpPr txBox="1"/>
          <p:nvPr/>
        </p:nvSpPr>
        <p:spPr>
          <a:xfrm>
            <a:off x="483419" y="1418221"/>
            <a:ext cx="740473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system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is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built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on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four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core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Object-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Oriented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Programming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principles,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each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playing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a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distinct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role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in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architecture.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119" y="1765554"/>
            <a:ext cx="283518" cy="28351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83419" y="2220086"/>
            <a:ext cx="3961129" cy="76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Encapsulation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2600"/>
              </a:lnSpc>
              <a:spcBef>
                <a:spcPts val="715"/>
              </a:spcBef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Private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public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members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within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classes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protect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data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integrity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control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access</a:t>
            </a:r>
            <a:r>
              <a:rPr dirty="0" sz="11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to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sensitive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information.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0556" y="1765554"/>
            <a:ext cx="283518" cy="2835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647851" y="2220086"/>
            <a:ext cx="3961765" cy="76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Inheritance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2600"/>
              </a:lnSpc>
              <a:spcBef>
                <a:spcPts val="715"/>
              </a:spcBef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4DFDF"/>
                </a:solidFill>
                <a:latin typeface="Arial"/>
                <a:cs typeface="Arial"/>
              </a:rPr>
              <a:t>Challan</a:t>
            </a:r>
            <a:r>
              <a:rPr dirty="0" sz="1100" spc="-30" b="1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class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inherits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from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4DFDF"/>
                </a:solidFill>
                <a:latin typeface="Arial"/>
                <a:cs typeface="Arial"/>
              </a:rPr>
              <a:t>Driver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,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4DFDF"/>
                </a:solidFill>
                <a:latin typeface="Arial"/>
                <a:cs typeface="Arial"/>
              </a:rPr>
              <a:t>Vehicle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,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E4DFDF"/>
                </a:solidFill>
                <a:latin typeface="Arial"/>
                <a:cs typeface="Arial"/>
              </a:rPr>
              <a:t>Violation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,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promoting</a:t>
            </a:r>
            <a:r>
              <a:rPr dirty="0" sz="110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code</a:t>
            </a:r>
            <a:r>
              <a:rPr dirty="0" sz="110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reuse.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6119" y="3269906"/>
            <a:ext cx="283518" cy="2835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483419" y="3724440"/>
            <a:ext cx="4008120" cy="76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Abstraction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2600"/>
              </a:lnSpc>
              <a:spcBef>
                <a:spcPts val="715"/>
              </a:spcBef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Complex</a:t>
            </a:r>
            <a:r>
              <a:rPr dirty="0" sz="110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operations</a:t>
            </a:r>
            <a:r>
              <a:rPr dirty="0" sz="110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are</a:t>
            </a:r>
            <a:r>
              <a:rPr dirty="0" sz="110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hidden</a:t>
            </a:r>
            <a:r>
              <a:rPr dirty="0" sz="110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behind</a:t>
            </a:r>
            <a:r>
              <a:rPr dirty="0" sz="110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clean</a:t>
            </a:r>
            <a:r>
              <a:rPr dirty="0" sz="110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function</a:t>
            </a:r>
            <a:r>
              <a:rPr dirty="0" sz="110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interfaces, simplifying</a:t>
            </a:r>
            <a:r>
              <a:rPr dirty="0" sz="11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interaction</a:t>
            </a:r>
            <a:r>
              <a:rPr dirty="0" sz="11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for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user.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60556" y="3269906"/>
            <a:ext cx="283518" cy="28351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4647856" y="3724440"/>
            <a:ext cx="3672840" cy="76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Modularity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2600"/>
              </a:lnSpc>
              <a:spcBef>
                <a:spcPts val="715"/>
              </a:spcBef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Separate</a:t>
            </a:r>
            <a:r>
              <a:rPr dirty="0" sz="110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classes</a:t>
            </a:r>
            <a:r>
              <a:rPr dirty="0" sz="110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handle</a:t>
            </a:r>
            <a:r>
              <a:rPr dirty="0" sz="110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distinct</a:t>
            </a:r>
            <a:r>
              <a:rPr dirty="0" sz="110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functionalities,</a:t>
            </a:r>
            <a:r>
              <a:rPr dirty="0" sz="110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making</a:t>
            </a:r>
            <a:r>
              <a:rPr dirty="0" sz="110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the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system</a:t>
            </a:r>
            <a:r>
              <a:rPr dirty="0" sz="11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easy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to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 maintain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 extend.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90204" y="4844491"/>
            <a:ext cx="1153795" cy="260350"/>
            <a:chOff x="7990204" y="4844491"/>
            <a:chExt cx="1153795" cy="2603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9181" y="4844491"/>
              <a:ext cx="1071843" cy="25603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990204" y="4854574"/>
              <a:ext cx="1153795" cy="250190"/>
            </a:xfrm>
            <a:custGeom>
              <a:avLst/>
              <a:gdLst/>
              <a:ahLst/>
              <a:cxnLst/>
              <a:rect l="l" t="t" r="r" b="b"/>
              <a:pathLst>
                <a:path w="1153795" h="250189">
                  <a:moveTo>
                    <a:pt x="1153795" y="0"/>
                  </a:moveTo>
                  <a:lnTo>
                    <a:pt x="0" y="0"/>
                  </a:lnTo>
                  <a:lnTo>
                    <a:pt x="0" y="250189"/>
                  </a:lnTo>
                  <a:lnTo>
                    <a:pt x="1153795" y="250189"/>
                  </a:lnTo>
                  <a:lnTo>
                    <a:pt x="11537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79169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Classes</a:t>
            </a:r>
            <a:r>
              <a:rPr dirty="0" sz="1800" spc="-5"/>
              <a:t> </a:t>
            </a:r>
            <a:r>
              <a:rPr dirty="0" sz="1800"/>
              <a:t>&amp;</a:t>
            </a:r>
            <a:r>
              <a:rPr dirty="0" sz="1800" spc="-5"/>
              <a:t> </a:t>
            </a:r>
            <a:r>
              <a:rPr dirty="0" sz="1800"/>
              <a:t>Their</a:t>
            </a:r>
            <a:r>
              <a:rPr dirty="0" sz="1800" spc="-5"/>
              <a:t> </a:t>
            </a:r>
            <a:r>
              <a:rPr dirty="0" sz="1800" spc="-10"/>
              <a:t>Purpose</a:t>
            </a:r>
            <a:endParaRPr sz="1800"/>
          </a:p>
        </p:txBody>
      </p:sp>
      <p:sp>
        <p:nvSpPr>
          <p:cNvPr id="6" name="object 6" descr=""/>
          <p:cNvSpPr txBox="1"/>
          <p:nvPr/>
        </p:nvSpPr>
        <p:spPr>
          <a:xfrm>
            <a:off x="1349603" y="2150427"/>
            <a:ext cx="2964815" cy="266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Four</a:t>
            </a:r>
            <a:r>
              <a:rPr dirty="0" sz="7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core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classes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form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backbone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of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system,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each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responsible</a:t>
            </a:r>
            <a:r>
              <a:rPr dirty="0" sz="7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for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E4DFDF"/>
                </a:solidFill>
                <a:latin typeface="Arial"/>
                <a:cs typeface="Arial"/>
              </a:rPr>
              <a:t>a</a:t>
            </a:r>
            <a:r>
              <a:rPr dirty="0" sz="700" spc="50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specific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domain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of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data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behavior.</a:t>
            </a:r>
            <a:endParaRPr sz="7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0249" y="740121"/>
            <a:ext cx="3096221" cy="3096221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357541" y="3968953"/>
            <a:ext cx="1569085" cy="890269"/>
            <a:chOff x="1357541" y="3968953"/>
            <a:chExt cx="1569085" cy="890269"/>
          </a:xfrm>
        </p:grpSpPr>
        <p:sp>
          <p:nvSpPr>
            <p:cNvPr id="9" name="object 9" descr=""/>
            <p:cNvSpPr/>
            <p:nvPr/>
          </p:nvSpPr>
          <p:spPr>
            <a:xfrm>
              <a:off x="1362303" y="3973715"/>
              <a:ext cx="1559560" cy="880744"/>
            </a:xfrm>
            <a:custGeom>
              <a:avLst/>
              <a:gdLst/>
              <a:ahLst/>
              <a:cxnLst/>
              <a:rect l="l" t="t" r="r" b="b"/>
              <a:pathLst>
                <a:path w="1559560" h="880745">
                  <a:moveTo>
                    <a:pt x="1475320" y="0"/>
                  </a:moveTo>
                  <a:lnTo>
                    <a:pt x="83730" y="0"/>
                  </a:lnTo>
                  <a:lnTo>
                    <a:pt x="51269" y="6623"/>
                  </a:lnTo>
                  <a:lnTo>
                    <a:pt x="24640" y="24639"/>
                  </a:lnTo>
                  <a:lnTo>
                    <a:pt x="6623" y="51268"/>
                  </a:lnTo>
                  <a:lnTo>
                    <a:pt x="0" y="83731"/>
                  </a:lnTo>
                  <a:lnTo>
                    <a:pt x="0" y="796810"/>
                  </a:lnTo>
                  <a:lnTo>
                    <a:pt x="6623" y="829272"/>
                  </a:lnTo>
                  <a:lnTo>
                    <a:pt x="24640" y="855902"/>
                  </a:lnTo>
                  <a:lnTo>
                    <a:pt x="51269" y="873918"/>
                  </a:lnTo>
                  <a:lnTo>
                    <a:pt x="83730" y="880541"/>
                  </a:lnTo>
                  <a:lnTo>
                    <a:pt x="1475320" y="880541"/>
                  </a:lnTo>
                  <a:lnTo>
                    <a:pt x="1507783" y="873918"/>
                  </a:lnTo>
                  <a:lnTo>
                    <a:pt x="1534412" y="855902"/>
                  </a:lnTo>
                  <a:lnTo>
                    <a:pt x="1552428" y="829272"/>
                  </a:lnTo>
                  <a:lnTo>
                    <a:pt x="1559052" y="796810"/>
                  </a:lnTo>
                  <a:lnTo>
                    <a:pt x="1559052" y="83731"/>
                  </a:lnTo>
                  <a:lnTo>
                    <a:pt x="1552428" y="51268"/>
                  </a:lnTo>
                  <a:lnTo>
                    <a:pt x="1534412" y="24639"/>
                  </a:lnTo>
                  <a:lnTo>
                    <a:pt x="1507783" y="6623"/>
                  </a:lnTo>
                  <a:lnTo>
                    <a:pt x="1475320" y="0"/>
                  </a:lnTo>
                  <a:close/>
                </a:path>
              </a:pathLst>
            </a:custGeom>
            <a:solidFill>
              <a:srgbClr val="030303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62303" y="3973715"/>
              <a:ext cx="1559560" cy="880744"/>
            </a:xfrm>
            <a:custGeom>
              <a:avLst/>
              <a:gdLst/>
              <a:ahLst/>
              <a:cxnLst/>
              <a:rect l="l" t="t" r="r" b="b"/>
              <a:pathLst>
                <a:path w="1559560" h="880745">
                  <a:moveTo>
                    <a:pt x="0" y="83731"/>
                  </a:moveTo>
                  <a:lnTo>
                    <a:pt x="6623" y="51268"/>
                  </a:lnTo>
                  <a:lnTo>
                    <a:pt x="24640" y="24639"/>
                  </a:lnTo>
                  <a:lnTo>
                    <a:pt x="51269" y="6623"/>
                  </a:lnTo>
                  <a:lnTo>
                    <a:pt x="83730" y="0"/>
                  </a:lnTo>
                  <a:lnTo>
                    <a:pt x="1475320" y="0"/>
                  </a:lnTo>
                  <a:lnTo>
                    <a:pt x="1507783" y="6623"/>
                  </a:lnTo>
                  <a:lnTo>
                    <a:pt x="1534412" y="24639"/>
                  </a:lnTo>
                  <a:lnTo>
                    <a:pt x="1552428" y="51268"/>
                  </a:lnTo>
                  <a:lnTo>
                    <a:pt x="1559052" y="83731"/>
                  </a:lnTo>
                  <a:lnTo>
                    <a:pt x="1559052" y="796810"/>
                  </a:lnTo>
                  <a:lnTo>
                    <a:pt x="1552428" y="829272"/>
                  </a:lnTo>
                  <a:lnTo>
                    <a:pt x="1534412" y="855902"/>
                  </a:lnTo>
                  <a:lnTo>
                    <a:pt x="1507783" y="873918"/>
                  </a:lnTo>
                  <a:lnTo>
                    <a:pt x="1475320" y="880541"/>
                  </a:lnTo>
                  <a:lnTo>
                    <a:pt x="83730" y="880541"/>
                  </a:lnTo>
                  <a:lnTo>
                    <a:pt x="51269" y="873918"/>
                  </a:lnTo>
                  <a:lnTo>
                    <a:pt x="24640" y="855902"/>
                  </a:lnTo>
                  <a:lnTo>
                    <a:pt x="6623" y="829272"/>
                  </a:lnTo>
                  <a:lnTo>
                    <a:pt x="0" y="796810"/>
                  </a:lnTo>
                  <a:lnTo>
                    <a:pt x="0" y="83731"/>
                  </a:lnTo>
                  <a:close/>
                </a:path>
              </a:pathLst>
            </a:custGeom>
            <a:ln w="9524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71828" y="3983240"/>
              <a:ext cx="1540510" cy="279400"/>
            </a:xfrm>
            <a:custGeom>
              <a:avLst/>
              <a:gdLst/>
              <a:ahLst/>
              <a:cxnLst/>
              <a:rect l="l" t="t" r="r" b="b"/>
              <a:pathLst>
                <a:path w="1540510" h="279400">
                  <a:moveTo>
                    <a:pt x="1467700" y="0"/>
                  </a:moveTo>
                  <a:lnTo>
                    <a:pt x="72302" y="0"/>
                  </a:lnTo>
                  <a:lnTo>
                    <a:pt x="44271" y="5719"/>
                  </a:lnTo>
                  <a:lnTo>
                    <a:pt x="21277" y="21277"/>
                  </a:lnTo>
                  <a:lnTo>
                    <a:pt x="5719" y="44271"/>
                  </a:lnTo>
                  <a:lnTo>
                    <a:pt x="0" y="72301"/>
                  </a:lnTo>
                  <a:lnTo>
                    <a:pt x="0" y="206755"/>
                  </a:lnTo>
                  <a:lnTo>
                    <a:pt x="5719" y="234785"/>
                  </a:lnTo>
                  <a:lnTo>
                    <a:pt x="21277" y="257779"/>
                  </a:lnTo>
                  <a:lnTo>
                    <a:pt x="44271" y="273337"/>
                  </a:lnTo>
                  <a:lnTo>
                    <a:pt x="72302" y="279057"/>
                  </a:lnTo>
                  <a:lnTo>
                    <a:pt x="1467700" y="279057"/>
                  </a:lnTo>
                  <a:lnTo>
                    <a:pt x="1495730" y="273337"/>
                  </a:lnTo>
                  <a:lnTo>
                    <a:pt x="1518724" y="257779"/>
                  </a:lnTo>
                  <a:lnTo>
                    <a:pt x="1534282" y="234785"/>
                  </a:lnTo>
                  <a:lnTo>
                    <a:pt x="1540002" y="206755"/>
                  </a:lnTo>
                  <a:lnTo>
                    <a:pt x="1540002" y="72301"/>
                  </a:lnTo>
                  <a:lnTo>
                    <a:pt x="1534282" y="44271"/>
                  </a:lnTo>
                  <a:lnTo>
                    <a:pt x="1518724" y="21277"/>
                  </a:lnTo>
                  <a:lnTo>
                    <a:pt x="1495730" y="5719"/>
                  </a:lnTo>
                  <a:lnTo>
                    <a:pt x="1467700" y="0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092217" y="4022471"/>
            <a:ext cx="996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E4DFDF"/>
                </a:solidFill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52143" y="4237779"/>
            <a:ext cx="1250950" cy="5200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Driver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  <a:spcBef>
                <a:spcPts val="335"/>
              </a:spcBef>
            </a:pP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Stores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driver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name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7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license</a:t>
            </a:r>
            <a:r>
              <a:rPr dirty="0" sz="700" spc="50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number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977603" y="3968953"/>
            <a:ext cx="1569085" cy="890269"/>
            <a:chOff x="2977603" y="3968953"/>
            <a:chExt cx="1569085" cy="890269"/>
          </a:xfrm>
        </p:grpSpPr>
        <p:sp>
          <p:nvSpPr>
            <p:cNvPr id="15" name="object 15" descr=""/>
            <p:cNvSpPr/>
            <p:nvPr/>
          </p:nvSpPr>
          <p:spPr>
            <a:xfrm>
              <a:off x="2982366" y="3973715"/>
              <a:ext cx="1559560" cy="880744"/>
            </a:xfrm>
            <a:custGeom>
              <a:avLst/>
              <a:gdLst/>
              <a:ahLst/>
              <a:cxnLst/>
              <a:rect l="l" t="t" r="r" b="b"/>
              <a:pathLst>
                <a:path w="1559560" h="880745">
                  <a:moveTo>
                    <a:pt x="1475397" y="0"/>
                  </a:moveTo>
                  <a:lnTo>
                    <a:pt x="83730" y="0"/>
                  </a:lnTo>
                  <a:lnTo>
                    <a:pt x="51269" y="6623"/>
                  </a:lnTo>
                  <a:lnTo>
                    <a:pt x="24640" y="24639"/>
                  </a:lnTo>
                  <a:lnTo>
                    <a:pt x="6623" y="51268"/>
                  </a:lnTo>
                  <a:lnTo>
                    <a:pt x="0" y="83731"/>
                  </a:lnTo>
                  <a:lnTo>
                    <a:pt x="0" y="796810"/>
                  </a:lnTo>
                  <a:lnTo>
                    <a:pt x="6623" y="829272"/>
                  </a:lnTo>
                  <a:lnTo>
                    <a:pt x="24640" y="855902"/>
                  </a:lnTo>
                  <a:lnTo>
                    <a:pt x="51269" y="873918"/>
                  </a:lnTo>
                  <a:lnTo>
                    <a:pt x="83730" y="880541"/>
                  </a:lnTo>
                  <a:lnTo>
                    <a:pt x="1475397" y="880541"/>
                  </a:lnTo>
                  <a:lnTo>
                    <a:pt x="1507853" y="873918"/>
                  </a:lnTo>
                  <a:lnTo>
                    <a:pt x="1534483" y="855902"/>
                  </a:lnTo>
                  <a:lnTo>
                    <a:pt x="1552503" y="829272"/>
                  </a:lnTo>
                  <a:lnTo>
                    <a:pt x="1559128" y="796810"/>
                  </a:lnTo>
                  <a:lnTo>
                    <a:pt x="1559128" y="83731"/>
                  </a:lnTo>
                  <a:lnTo>
                    <a:pt x="1552503" y="51268"/>
                  </a:lnTo>
                  <a:lnTo>
                    <a:pt x="1534483" y="24639"/>
                  </a:lnTo>
                  <a:lnTo>
                    <a:pt x="1507853" y="6623"/>
                  </a:lnTo>
                  <a:lnTo>
                    <a:pt x="1475397" y="0"/>
                  </a:lnTo>
                  <a:close/>
                </a:path>
              </a:pathLst>
            </a:custGeom>
            <a:solidFill>
              <a:srgbClr val="030303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982366" y="3973715"/>
              <a:ext cx="1559560" cy="880744"/>
            </a:xfrm>
            <a:custGeom>
              <a:avLst/>
              <a:gdLst/>
              <a:ahLst/>
              <a:cxnLst/>
              <a:rect l="l" t="t" r="r" b="b"/>
              <a:pathLst>
                <a:path w="1559560" h="880745">
                  <a:moveTo>
                    <a:pt x="0" y="83731"/>
                  </a:moveTo>
                  <a:lnTo>
                    <a:pt x="6623" y="51268"/>
                  </a:lnTo>
                  <a:lnTo>
                    <a:pt x="24640" y="24639"/>
                  </a:lnTo>
                  <a:lnTo>
                    <a:pt x="51269" y="6623"/>
                  </a:lnTo>
                  <a:lnTo>
                    <a:pt x="83730" y="0"/>
                  </a:lnTo>
                  <a:lnTo>
                    <a:pt x="1475397" y="0"/>
                  </a:lnTo>
                  <a:lnTo>
                    <a:pt x="1507853" y="6623"/>
                  </a:lnTo>
                  <a:lnTo>
                    <a:pt x="1534483" y="24639"/>
                  </a:lnTo>
                  <a:lnTo>
                    <a:pt x="1552503" y="51268"/>
                  </a:lnTo>
                  <a:lnTo>
                    <a:pt x="1559128" y="83731"/>
                  </a:lnTo>
                  <a:lnTo>
                    <a:pt x="1559128" y="796810"/>
                  </a:lnTo>
                  <a:lnTo>
                    <a:pt x="1552503" y="829272"/>
                  </a:lnTo>
                  <a:lnTo>
                    <a:pt x="1534483" y="855902"/>
                  </a:lnTo>
                  <a:lnTo>
                    <a:pt x="1507853" y="873918"/>
                  </a:lnTo>
                  <a:lnTo>
                    <a:pt x="1475397" y="880541"/>
                  </a:lnTo>
                  <a:lnTo>
                    <a:pt x="83730" y="880541"/>
                  </a:lnTo>
                  <a:lnTo>
                    <a:pt x="51269" y="873918"/>
                  </a:lnTo>
                  <a:lnTo>
                    <a:pt x="24640" y="855902"/>
                  </a:lnTo>
                  <a:lnTo>
                    <a:pt x="6623" y="829272"/>
                  </a:lnTo>
                  <a:lnTo>
                    <a:pt x="0" y="796810"/>
                  </a:lnTo>
                  <a:lnTo>
                    <a:pt x="0" y="83731"/>
                  </a:lnTo>
                  <a:close/>
                </a:path>
              </a:pathLst>
            </a:custGeom>
            <a:ln w="9524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991891" y="3983240"/>
              <a:ext cx="1540510" cy="279400"/>
            </a:xfrm>
            <a:custGeom>
              <a:avLst/>
              <a:gdLst/>
              <a:ahLst/>
              <a:cxnLst/>
              <a:rect l="l" t="t" r="r" b="b"/>
              <a:pathLst>
                <a:path w="1540510" h="279400">
                  <a:moveTo>
                    <a:pt x="1467764" y="0"/>
                  </a:moveTo>
                  <a:lnTo>
                    <a:pt x="72302" y="0"/>
                  </a:lnTo>
                  <a:lnTo>
                    <a:pt x="44271" y="5719"/>
                  </a:lnTo>
                  <a:lnTo>
                    <a:pt x="21277" y="21277"/>
                  </a:lnTo>
                  <a:lnTo>
                    <a:pt x="5719" y="44271"/>
                  </a:lnTo>
                  <a:lnTo>
                    <a:pt x="0" y="72301"/>
                  </a:lnTo>
                  <a:lnTo>
                    <a:pt x="0" y="206755"/>
                  </a:lnTo>
                  <a:lnTo>
                    <a:pt x="5719" y="234785"/>
                  </a:lnTo>
                  <a:lnTo>
                    <a:pt x="21277" y="257779"/>
                  </a:lnTo>
                  <a:lnTo>
                    <a:pt x="44271" y="273337"/>
                  </a:lnTo>
                  <a:lnTo>
                    <a:pt x="72302" y="279057"/>
                  </a:lnTo>
                  <a:lnTo>
                    <a:pt x="1467764" y="279057"/>
                  </a:lnTo>
                  <a:lnTo>
                    <a:pt x="1495801" y="273337"/>
                  </a:lnTo>
                  <a:lnTo>
                    <a:pt x="1518799" y="257779"/>
                  </a:lnTo>
                  <a:lnTo>
                    <a:pt x="1534358" y="234785"/>
                  </a:lnTo>
                  <a:lnTo>
                    <a:pt x="1540078" y="206755"/>
                  </a:lnTo>
                  <a:lnTo>
                    <a:pt x="1540078" y="72301"/>
                  </a:lnTo>
                  <a:lnTo>
                    <a:pt x="1534358" y="44271"/>
                  </a:lnTo>
                  <a:lnTo>
                    <a:pt x="1518799" y="21277"/>
                  </a:lnTo>
                  <a:lnTo>
                    <a:pt x="1495801" y="5719"/>
                  </a:lnTo>
                  <a:lnTo>
                    <a:pt x="1467764" y="0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712293" y="4022471"/>
            <a:ext cx="996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E4DFDF"/>
                </a:solidFill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072206" y="4237779"/>
            <a:ext cx="1374140" cy="5200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Vehicle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  <a:spcBef>
                <a:spcPts val="335"/>
              </a:spcBef>
            </a:pP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Stores vehicle</a:t>
            </a:r>
            <a:r>
              <a:rPr dirty="0" sz="700" spc="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registration</a:t>
            </a:r>
            <a:r>
              <a:rPr dirty="0" sz="700" spc="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number</a:t>
            </a:r>
            <a:r>
              <a:rPr dirty="0" sz="700" spc="50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E4DFDF"/>
                </a:solidFill>
                <a:latin typeface="Arial"/>
                <a:cs typeface="Arial"/>
              </a:rPr>
              <a:t>type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597743" y="3968953"/>
            <a:ext cx="1569085" cy="890269"/>
            <a:chOff x="4597743" y="3968953"/>
            <a:chExt cx="1569085" cy="890269"/>
          </a:xfrm>
        </p:grpSpPr>
        <p:sp>
          <p:nvSpPr>
            <p:cNvPr id="21" name="object 21" descr=""/>
            <p:cNvSpPr/>
            <p:nvPr/>
          </p:nvSpPr>
          <p:spPr>
            <a:xfrm>
              <a:off x="4602505" y="3973715"/>
              <a:ext cx="1559560" cy="880744"/>
            </a:xfrm>
            <a:custGeom>
              <a:avLst/>
              <a:gdLst/>
              <a:ahLst/>
              <a:cxnLst/>
              <a:rect l="l" t="t" r="r" b="b"/>
              <a:pathLst>
                <a:path w="1559560" h="880745">
                  <a:moveTo>
                    <a:pt x="1475320" y="0"/>
                  </a:moveTo>
                  <a:lnTo>
                    <a:pt x="83730" y="0"/>
                  </a:lnTo>
                  <a:lnTo>
                    <a:pt x="51269" y="6623"/>
                  </a:lnTo>
                  <a:lnTo>
                    <a:pt x="24640" y="24639"/>
                  </a:lnTo>
                  <a:lnTo>
                    <a:pt x="6623" y="51268"/>
                  </a:lnTo>
                  <a:lnTo>
                    <a:pt x="0" y="83731"/>
                  </a:lnTo>
                  <a:lnTo>
                    <a:pt x="0" y="796810"/>
                  </a:lnTo>
                  <a:lnTo>
                    <a:pt x="6623" y="829272"/>
                  </a:lnTo>
                  <a:lnTo>
                    <a:pt x="24640" y="855902"/>
                  </a:lnTo>
                  <a:lnTo>
                    <a:pt x="51269" y="873918"/>
                  </a:lnTo>
                  <a:lnTo>
                    <a:pt x="83730" y="880541"/>
                  </a:lnTo>
                  <a:lnTo>
                    <a:pt x="1475320" y="880541"/>
                  </a:lnTo>
                  <a:lnTo>
                    <a:pt x="1507783" y="873918"/>
                  </a:lnTo>
                  <a:lnTo>
                    <a:pt x="1534412" y="855902"/>
                  </a:lnTo>
                  <a:lnTo>
                    <a:pt x="1552428" y="829272"/>
                  </a:lnTo>
                  <a:lnTo>
                    <a:pt x="1559052" y="796810"/>
                  </a:lnTo>
                  <a:lnTo>
                    <a:pt x="1559052" y="83731"/>
                  </a:lnTo>
                  <a:lnTo>
                    <a:pt x="1552428" y="51268"/>
                  </a:lnTo>
                  <a:lnTo>
                    <a:pt x="1534412" y="24639"/>
                  </a:lnTo>
                  <a:lnTo>
                    <a:pt x="1507783" y="6623"/>
                  </a:lnTo>
                  <a:lnTo>
                    <a:pt x="1475320" y="0"/>
                  </a:lnTo>
                  <a:close/>
                </a:path>
              </a:pathLst>
            </a:custGeom>
            <a:solidFill>
              <a:srgbClr val="030303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602505" y="3973715"/>
              <a:ext cx="1559560" cy="880744"/>
            </a:xfrm>
            <a:custGeom>
              <a:avLst/>
              <a:gdLst/>
              <a:ahLst/>
              <a:cxnLst/>
              <a:rect l="l" t="t" r="r" b="b"/>
              <a:pathLst>
                <a:path w="1559560" h="880745">
                  <a:moveTo>
                    <a:pt x="0" y="83731"/>
                  </a:moveTo>
                  <a:lnTo>
                    <a:pt x="6623" y="51268"/>
                  </a:lnTo>
                  <a:lnTo>
                    <a:pt x="24640" y="24639"/>
                  </a:lnTo>
                  <a:lnTo>
                    <a:pt x="51269" y="6623"/>
                  </a:lnTo>
                  <a:lnTo>
                    <a:pt x="83730" y="0"/>
                  </a:lnTo>
                  <a:lnTo>
                    <a:pt x="1475320" y="0"/>
                  </a:lnTo>
                  <a:lnTo>
                    <a:pt x="1507783" y="6623"/>
                  </a:lnTo>
                  <a:lnTo>
                    <a:pt x="1534412" y="24639"/>
                  </a:lnTo>
                  <a:lnTo>
                    <a:pt x="1552428" y="51268"/>
                  </a:lnTo>
                  <a:lnTo>
                    <a:pt x="1559052" y="83731"/>
                  </a:lnTo>
                  <a:lnTo>
                    <a:pt x="1559052" y="796810"/>
                  </a:lnTo>
                  <a:lnTo>
                    <a:pt x="1552428" y="829272"/>
                  </a:lnTo>
                  <a:lnTo>
                    <a:pt x="1534412" y="855902"/>
                  </a:lnTo>
                  <a:lnTo>
                    <a:pt x="1507783" y="873918"/>
                  </a:lnTo>
                  <a:lnTo>
                    <a:pt x="1475320" y="880541"/>
                  </a:lnTo>
                  <a:lnTo>
                    <a:pt x="83730" y="880541"/>
                  </a:lnTo>
                  <a:lnTo>
                    <a:pt x="51269" y="873918"/>
                  </a:lnTo>
                  <a:lnTo>
                    <a:pt x="24640" y="855902"/>
                  </a:lnTo>
                  <a:lnTo>
                    <a:pt x="6623" y="829272"/>
                  </a:lnTo>
                  <a:lnTo>
                    <a:pt x="0" y="796810"/>
                  </a:lnTo>
                  <a:lnTo>
                    <a:pt x="0" y="83731"/>
                  </a:lnTo>
                  <a:close/>
                </a:path>
              </a:pathLst>
            </a:custGeom>
            <a:ln w="9524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612030" y="3983240"/>
              <a:ext cx="1540510" cy="279400"/>
            </a:xfrm>
            <a:custGeom>
              <a:avLst/>
              <a:gdLst/>
              <a:ahLst/>
              <a:cxnLst/>
              <a:rect l="l" t="t" r="r" b="b"/>
              <a:pathLst>
                <a:path w="1540510" h="279400">
                  <a:moveTo>
                    <a:pt x="1467700" y="0"/>
                  </a:moveTo>
                  <a:lnTo>
                    <a:pt x="72302" y="0"/>
                  </a:lnTo>
                  <a:lnTo>
                    <a:pt x="44271" y="5719"/>
                  </a:lnTo>
                  <a:lnTo>
                    <a:pt x="21277" y="21277"/>
                  </a:lnTo>
                  <a:lnTo>
                    <a:pt x="5719" y="44271"/>
                  </a:lnTo>
                  <a:lnTo>
                    <a:pt x="0" y="72301"/>
                  </a:lnTo>
                  <a:lnTo>
                    <a:pt x="0" y="206755"/>
                  </a:lnTo>
                  <a:lnTo>
                    <a:pt x="5719" y="234785"/>
                  </a:lnTo>
                  <a:lnTo>
                    <a:pt x="21277" y="257779"/>
                  </a:lnTo>
                  <a:lnTo>
                    <a:pt x="44271" y="273337"/>
                  </a:lnTo>
                  <a:lnTo>
                    <a:pt x="72302" y="279057"/>
                  </a:lnTo>
                  <a:lnTo>
                    <a:pt x="1467700" y="279057"/>
                  </a:lnTo>
                  <a:lnTo>
                    <a:pt x="1495730" y="273337"/>
                  </a:lnTo>
                  <a:lnTo>
                    <a:pt x="1518724" y="257779"/>
                  </a:lnTo>
                  <a:lnTo>
                    <a:pt x="1534282" y="234785"/>
                  </a:lnTo>
                  <a:lnTo>
                    <a:pt x="1540002" y="206755"/>
                  </a:lnTo>
                  <a:lnTo>
                    <a:pt x="1540002" y="72301"/>
                  </a:lnTo>
                  <a:lnTo>
                    <a:pt x="1534282" y="44271"/>
                  </a:lnTo>
                  <a:lnTo>
                    <a:pt x="1518724" y="21277"/>
                  </a:lnTo>
                  <a:lnTo>
                    <a:pt x="1495730" y="5719"/>
                  </a:lnTo>
                  <a:lnTo>
                    <a:pt x="1467700" y="0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5332432" y="4022471"/>
            <a:ext cx="996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E4DFDF"/>
                </a:solidFill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692357" y="4237779"/>
            <a:ext cx="1077595" cy="5200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Violation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  <a:spcBef>
                <a:spcPts val="335"/>
              </a:spcBef>
            </a:pP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Stores</a:t>
            </a:r>
            <a:r>
              <a:rPr dirty="0" sz="7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violation</a:t>
            </a:r>
            <a:r>
              <a:rPr dirty="0" sz="7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type</a:t>
            </a:r>
            <a:r>
              <a:rPr dirty="0" sz="7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corresponding</a:t>
            </a:r>
            <a:r>
              <a:rPr dirty="0" sz="700" spc="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fine</a:t>
            </a:r>
            <a:r>
              <a:rPr dirty="0" sz="700" spc="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amount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217818" y="3968953"/>
            <a:ext cx="1569085" cy="890269"/>
            <a:chOff x="6217818" y="3968953"/>
            <a:chExt cx="1569085" cy="890269"/>
          </a:xfrm>
        </p:grpSpPr>
        <p:sp>
          <p:nvSpPr>
            <p:cNvPr id="27" name="object 27" descr=""/>
            <p:cNvSpPr/>
            <p:nvPr/>
          </p:nvSpPr>
          <p:spPr>
            <a:xfrm>
              <a:off x="6222580" y="3973715"/>
              <a:ext cx="1559560" cy="880744"/>
            </a:xfrm>
            <a:custGeom>
              <a:avLst/>
              <a:gdLst/>
              <a:ahLst/>
              <a:cxnLst/>
              <a:rect l="l" t="t" r="r" b="b"/>
              <a:pathLst>
                <a:path w="1559559" h="880745">
                  <a:moveTo>
                    <a:pt x="1475397" y="0"/>
                  </a:moveTo>
                  <a:lnTo>
                    <a:pt x="83730" y="0"/>
                  </a:lnTo>
                  <a:lnTo>
                    <a:pt x="51269" y="6623"/>
                  </a:lnTo>
                  <a:lnTo>
                    <a:pt x="24640" y="24639"/>
                  </a:lnTo>
                  <a:lnTo>
                    <a:pt x="6623" y="51268"/>
                  </a:lnTo>
                  <a:lnTo>
                    <a:pt x="0" y="83731"/>
                  </a:lnTo>
                  <a:lnTo>
                    <a:pt x="0" y="796810"/>
                  </a:lnTo>
                  <a:lnTo>
                    <a:pt x="6623" y="829272"/>
                  </a:lnTo>
                  <a:lnTo>
                    <a:pt x="24640" y="855902"/>
                  </a:lnTo>
                  <a:lnTo>
                    <a:pt x="51269" y="873918"/>
                  </a:lnTo>
                  <a:lnTo>
                    <a:pt x="83730" y="880541"/>
                  </a:lnTo>
                  <a:lnTo>
                    <a:pt x="1475397" y="880541"/>
                  </a:lnTo>
                  <a:lnTo>
                    <a:pt x="1507853" y="873918"/>
                  </a:lnTo>
                  <a:lnTo>
                    <a:pt x="1534483" y="855902"/>
                  </a:lnTo>
                  <a:lnTo>
                    <a:pt x="1552503" y="829272"/>
                  </a:lnTo>
                  <a:lnTo>
                    <a:pt x="1559128" y="796810"/>
                  </a:lnTo>
                  <a:lnTo>
                    <a:pt x="1559128" y="83731"/>
                  </a:lnTo>
                  <a:lnTo>
                    <a:pt x="1552503" y="51268"/>
                  </a:lnTo>
                  <a:lnTo>
                    <a:pt x="1534483" y="24639"/>
                  </a:lnTo>
                  <a:lnTo>
                    <a:pt x="1507853" y="6623"/>
                  </a:lnTo>
                  <a:lnTo>
                    <a:pt x="1475397" y="0"/>
                  </a:lnTo>
                  <a:close/>
                </a:path>
              </a:pathLst>
            </a:custGeom>
            <a:solidFill>
              <a:srgbClr val="030303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222580" y="3973715"/>
              <a:ext cx="1559560" cy="880744"/>
            </a:xfrm>
            <a:custGeom>
              <a:avLst/>
              <a:gdLst/>
              <a:ahLst/>
              <a:cxnLst/>
              <a:rect l="l" t="t" r="r" b="b"/>
              <a:pathLst>
                <a:path w="1559559" h="880745">
                  <a:moveTo>
                    <a:pt x="0" y="83731"/>
                  </a:moveTo>
                  <a:lnTo>
                    <a:pt x="6623" y="51268"/>
                  </a:lnTo>
                  <a:lnTo>
                    <a:pt x="24640" y="24639"/>
                  </a:lnTo>
                  <a:lnTo>
                    <a:pt x="51269" y="6623"/>
                  </a:lnTo>
                  <a:lnTo>
                    <a:pt x="83730" y="0"/>
                  </a:lnTo>
                  <a:lnTo>
                    <a:pt x="1475397" y="0"/>
                  </a:lnTo>
                  <a:lnTo>
                    <a:pt x="1507853" y="6623"/>
                  </a:lnTo>
                  <a:lnTo>
                    <a:pt x="1534483" y="24639"/>
                  </a:lnTo>
                  <a:lnTo>
                    <a:pt x="1552503" y="51268"/>
                  </a:lnTo>
                  <a:lnTo>
                    <a:pt x="1559128" y="83731"/>
                  </a:lnTo>
                  <a:lnTo>
                    <a:pt x="1559128" y="796810"/>
                  </a:lnTo>
                  <a:lnTo>
                    <a:pt x="1552503" y="829272"/>
                  </a:lnTo>
                  <a:lnTo>
                    <a:pt x="1534483" y="855902"/>
                  </a:lnTo>
                  <a:lnTo>
                    <a:pt x="1507853" y="873918"/>
                  </a:lnTo>
                  <a:lnTo>
                    <a:pt x="1475397" y="880541"/>
                  </a:lnTo>
                  <a:lnTo>
                    <a:pt x="83730" y="880541"/>
                  </a:lnTo>
                  <a:lnTo>
                    <a:pt x="51269" y="873918"/>
                  </a:lnTo>
                  <a:lnTo>
                    <a:pt x="24640" y="855902"/>
                  </a:lnTo>
                  <a:lnTo>
                    <a:pt x="6623" y="829272"/>
                  </a:lnTo>
                  <a:lnTo>
                    <a:pt x="0" y="796810"/>
                  </a:lnTo>
                  <a:lnTo>
                    <a:pt x="0" y="83731"/>
                  </a:lnTo>
                  <a:close/>
                </a:path>
              </a:pathLst>
            </a:custGeom>
            <a:ln w="9524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232105" y="3983240"/>
              <a:ext cx="1540510" cy="279400"/>
            </a:xfrm>
            <a:custGeom>
              <a:avLst/>
              <a:gdLst/>
              <a:ahLst/>
              <a:cxnLst/>
              <a:rect l="l" t="t" r="r" b="b"/>
              <a:pathLst>
                <a:path w="1540509" h="279400">
                  <a:moveTo>
                    <a:pt x="1467764" y="0"/>
                  </a:moveTo>
                  <a:lnTo>
                    <a:pt x="72302" y="0"/>
                  </a:lnTo>
                  <a:lnTo>
                    <a:pt x="44271" y="5719"/>
                  </a:lnTo>
                  <a:lnTo>
                    <a:pt x="21277" y="21277"/>
                  </a:lnTo>
                  <a:lnTo>
                    <a:pt x="5719" y="44271"/>
                  </a:lnTo>
                  <a:lnTo>
                    <a:pt x="0" y="72301"/>
                  </a:lnTo>
                  <a:lnTo>
                    <a:pt x="0" y="206755"/>
                  </a:lnTo>
                  <a:lnTo>
                    <a:pt x="5719" y="234785"/>
                  </a:lnTo>
                  <a:lnTo>
                    <a:pt x="21277" y="257779"/>
                  </a:lnTo>
                  <a:lnTo>
                    <a:pt x="44271" y="273337"/>
                  </a:lnTo>
                  <a:lnTo>
                    <a:pt x="72302" y="279057"/>
                  </a:lnTo>
                  <a:lnTo>
                    <a:pt x="1467764" y="279057"/>
                  </a:lnTo>
                  <a:lnTo>
                    <a:pt x="1495801" y="273337"/>
                  </a:lnTo>
                  <a:lnTo>
                    <a:pt x="1518799" y="257779"/>
                  </a:lnTo>
                  <a:lnTo>
                    <a:pt x="1534358" y="234785"/>
                  </a:lnTo>
                  <a:lnTo>
                    <a:pt x="1540078" y="206755"/>
                  </a:lnTo>
                  <a:lnTo>
                    <a:pt x="1540078" y="72301"/>
                  </a:lnTo>
                  <a:lnTo>
                    <a:pt x="1534358" y="44271"/>
                  </a:lnTo>
                  <a:lnTo>
                    <a:pt x="1518799" y="21277"/>
                  </a:lnTo>
                  <a:lnTo>
                    <a:pt x="1495801" y="5719"/>
                  </a:lnTo>
                  <a:lnTo>
                    <a:pt x="1467764" y="0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952507" y="4022471"/>
            <a:ext cx="996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E4DFDF"/>
                </a:solidFill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312420" y="4237779"/>
            <a:ext cx="1220470" cy="5200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Challan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  <a:spcBef>
                <a:spcPts val="335"/>
              </a:spcBef>
            </a:pP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Generates</a:t>
            </a:r>
            <a:r>
              <a:rPr dirty="0" sz="7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Challan</a:t>
            </a:r>
            <a:r>
              <a:rPr dirty="0" sz="7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ID,</a:t>
            </a:r>
            <a:r>
              <a:rPr dirty="0" sz="7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receipt,</a:t>
            </a:r>
            <a:r>
              <a:rPr dirty="0" sz="700" spc="50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7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full</a:t>
            </a:r>
            <a:r>
              <a:rPr dirty="0" sz="7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E4DFDF"/>
                </a:solidFill>
                <a:latin typeface="Arial"/>
                <a:cs typeface="Arial"/>
              </a:rPr>
              <a:t>violation</a:t>
            </a:r>
            <a:r>
              <a:rPr dirty="0" sz="7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4DFDF"/>
                </a:solidFill>
                <a:latin typeface="Arial"/>
                <a:cs typeface="Arial"/>
              </a:rPr>
              <a:t>record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20684" y="4836160"/>
            <a:ext cx="1123315" cy="291465"/>
            <a:chOff x="8020684" y="4836160"/>
            <a:chExt cx="1123315" cy="2914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9180" y="4844491"/>
              <a:ext cx="1071843" cy="25603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020684" y="4836160"/>
              <a:ext cx="1123315" cy="291465"/>
            </a:xfrm>
            <a:custGeom>
              <a:avLst/>
              <a:gdLst/>
              <a:ahLst/>
              <a:cxnLst/>
              <a:rect l="l" t="t" r="r" b="b"/>
              <a:pathLst>
                <a:path w="1123315" h="291464">
                  <a:moveTo>
                    <a:pt x="1123315" y="0"/>
                  </a:moveTo>
                  <a:lnTo>
                    <a:pt x="0" y="0"/>
                  </a:lnTo>
                  <a:lnTo>
                    <a:pt x="0" y="291464"/>
                  </a:lnTo>
                  <a:lnTo>
                    <a:pt x="1123315" y="291464"/>
                  </a:lnTo>
                  <a:lnTo>
                    <a:pt x="11233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5686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Supported</a:t>
            </a:r>
            <a:r>
              <a:rPr dirty="0" sz="2700" spc="-30"/>
              <a:t> </a:t>
            </a:r>
            <a:r>
              <a:rPr dirty="0" sz="2700"/>
              <a:t>Violations</a:t>
            </a:r>
            <a:r>
              <a:rPr dirty="0" sz="2700" spc="-15"/>
              <a:t> </a:t>
            </a:r>
            <a:r>
              <a:rPr dirty="0" sz="2700"/>
              <a:t>&amp;</a:t>
            </a:r>
            <a:r>
              <a:rPr dirty="0" sz="2700" spc="-15"/>
              <a:t> </a:t>
            </a:r>
            <a:r>
              <a:rPr dirty="0" sz="2700" spc="-10"/>
              <a:t>Fines</a:t>
            </a:r>
            <a:endParaRPr sz="2700"/>
          </a:p>
        </p:txBody>
      </p:sp>
      <p:sp>
        <p:nvSpPr>
          <p:cNvPr id="6" name="object 6" descr=""/>
          <p:cNvSpPr txBox="1"/>
          <p:nvPr/>
        </p:nvSpPr>
        <p:spPr>
          <a:xfrm>
            <a:off x="475678" y="1216846"/>
            <a:ext cx="7626984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system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handles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five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common</a:t>
            </a:r>
            <a:r>
              <a:rPr dirty="0" sz="10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traffic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E4DFDF"/>
                </a:solidFill>
                <a:latin typeface="Arial"/>
                <a:cs typeface="Arial"/>
              </a:rPr>
              <a:t>violations,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each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mapped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to</a:t>
            </a:r>
            <a:r>
              <a:rPr dirty="0" sz="10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E4DFDF"/>
                </a:solidFill>
                <a:latin typeface="Arial"/>
                <a:cs typeface="Arial"/>
              </a:rPr>
              <a:t>predefined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fine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amount</a:t>
            </a:r>
            <a:r>
              <a:rPr dirty="0" sz="10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E4DFDF"/>
                </a:solidFill>
                <a:latin typeface="Arial"/>
                <a:cs typeface="Arial"/>
              </a:rPr>
              <a:t>calculated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automatically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E4DFDF"/>
                </a:solidFill>
                <a:latin typeface="Arial"/>
                <a:cs typeface="Arial"/>
              </a:rPr>
              <a:t>at</a:t>
            </a:r>
            <a:r>
              <a:rPr dirty="0" sz="10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E4DFDF"/>
                </a:solidFill>
                <a:latin typeface="Arial"/>
                <a:cs typeface="Arial"/>
              </a:rPr>
              <a:t>runtime.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88378" y="1552422"/>
            <a:ext cx="8167370" cy="2384425"/>
          </a:xfrm>
          <a:custGeom>
            <a:avLst/>
            <a:gdLst/>
            <a:ahLst/>
            <a:cxnLst/>
            <a:rect l="l" t="t" r="r" b="b"/>
            <a:pathLst>
              <a:path w="8167370" h="2384425">
                <a:moveTo>
                  <a:pt x="0" y="125590"/>
                </a:moveTo>
                <a:lnTo>
                  <a:pt x="9934" y="76900"/>
                </a:lnTo>
                <a:lnTo>
                  <a:pt x="36957" y="36958"/>
                </a:lnTo>
                <a:lnTo>
                  <a:pt x="76897" y="9934"/>
                </a:lnTo>
                <a:lnTo>
                  <a:pt x="125585" y="0"/>
                </a:lnTo>
                <a:lnTo>
                  <a:pt x="8041652" y="0"/>
                </a:lnTo>
                <a:lnTo>
                  <a:pt x="8090342" y="9934"/>
                </a:lnTo>
                <a:lnTo>
                  <a:pt x="8130284" y="36958"/>
                </a:lnTo>
                <a:lnTo>
                  <a:pt x="8157308" y="76900"/>
                </a:lnTo>
                <a:lnTo>
                  <a:pt x="8167243" y="125590"/>
                </a:lnTo>
                <a:lnTo>
                  <a:pt x="8167243" y="2258339"/>
                </a:lnTo>
                <a:lnTo>
                  <a:pt x="8157308" y="2307029"/>
                </a:lnTo>
                <a:lnTo>
                  <a:pt x="8130284" y="2346971"/>
                </a:lnTo>
                <a:lnTo>
                  <a:pt x="8090342" y="2373994"/>
                </a:lnTo>
                <a:lnTo>
                  <a:pt x="8041652" y="2383929"/>
                </a:lnTo>
                <a:lnTo>
                  <a:pt x="125585" y="2383929"/>
                </a:lnTo>
                <a:lnTo>
                  <a:pt x="76897" y="2373994"/>
                </a:lnTo>
                <a:lnTo>
                  <a:pt x="36957" y="2346971"/>
                </a:lnTo>
                <a:lnTo>
                  <a:pt x="9934" y="2307029"/>
                </a:lnTo>
                <a:lnTo>
                  <a:pt x="0" y="2258339"/>
                </a:lnTo>
                <a:lnTo>
                  <a:pt x="0" y="125590"/>
                </a:lnTo>
                <a:close/>
              </a:path>
            </a:pathLst>
          </a:custGeom>
          <a:ln w="476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3142" y="1557185"/>
          <a:ext cx="8234045" cy="2373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25520"/>
                <a:gridCol w="4632325"/>
              </a:tblGrid>
              <a:tr h="395605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050" b="1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Violation</a:t>
                      </a:r>
                      <a:r>
                        <a:rPr dirty="0" sz="1050" spc="-35" b="1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0" b="1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403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066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050" b="1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Fine</a:t>
                      </a:r>
                      <a:r>
                        <a:rPr dirty="0" sz="1050" spc="-15" b="1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40335"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Signal</a:t>
                      </a:r>
                      <a:r>
                        <a:rPr dirty="0" sz="105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Break</a:t>
                      </a:r>
                      <a:r>
                        <a:rPr dirty="0" sz="1050" spc="-3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(Both</a:t>
                      </a:r>
                      <a:r>
                        <a:rPr dirty="0" sz="1050" spc="-3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Vehicles)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403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066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Rs.</a:t>
                      </a:r>
                      <a:r>
                        <a:rPr dirty="0" sz="10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1,000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40335"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Over</a:t>
                      </a:r>
                      <a:r>
                        <a:rPr dirty="0" sz="1050" spc="-2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Speeding</a:t>
                      </a:r>
                      <a:r>
                        <a:rPr dirty="0" sz="1050" spc="-2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dirty="0" sz="1050" spc="-2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1050" spc="-2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Drivers)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066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Rs.</a:t>
                      </a:r>
                      <a:r>
                        <a:rPr dirty="0" sz="10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3,000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105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050" spc="-3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(For</a:t>
                      </a:r>
                      <a:r>
                        <a:rPr dirty="0" sz="105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Bikers)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066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Rs.</a:t>
                      </a:r>
                      <a:r>
                        <a:rPr dirty="0" sz="10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1,500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Illegal</a:t>
                      </a:r>
                      <a:r>
                        <a:rPr dirty="0" sz="1050" spc="-4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Parking</a:t>
                      </a:r>
                      <a:r>
                        <a:rPr dirty="0" sz="105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(For</a:t>
                      </a:r>
                      <a:r>
                        <a:rPr dirty="0" sz="1050" spc="-4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105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Drivers)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066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Rs.</a:t>
                      </a:r>
                      <a:r>
                        <a:rPr dirty="0" sz="10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2,000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1050" spc="-1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Seat</a:t>
                      </a:r>
                      <a:r>
                        <a:rPr dirty="0" sz="1050" spc="-1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Belt</a:t>
                      </a:r>
                      <a:r>
                        <a:rPr dirty="0" sz="1050" spc="-1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dirty="0" sz="1050" spc="-1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050" spc="-1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10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Drivers)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066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Rs.</a:t>
                      </a:r>
                      <a:r>
                        <a:rPr dirty="0" sz="10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2,500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9" name="object 9" descr=""/>
          <p:cNvGrpSpPr/>
          <p:nvPr/>
        </p:nvGrpSpPr>
        <p:grpSpPr>
          <a:xfrm>
            <a:off x="488378" y="4090835"/>
            <a:ext cx="8167370" cy="587375"/>
            <a:chOff x="488378" y="4090835"/>
            <a:chExt cx="8167370" cy="587375"/>
          </a:xfrm>
        </p:grpSpPr>
        <p:sp>
          <p:nvSpPr>
            <p:cNvPr id="10" name="object 10" descr=""/>
            <p:cNvSpPr/>
            <p:nvPr/>
          </p:nvSpPr>
          <p:spPr>
            <a:xfrm>
              <a:off x="488378" y="4090835"/>
              <a:ext cx="8167370" cy="587375"/>
            </a:xfrm>
            <a:custGeom>
              <a:avLst/>
              <a:gdLst/>
              <a:ahLst/>
              <a:cxnLst/>
              <a:rect l="l" t="t" r="r" b="b"/>
              <a:pathLst>
                <a:path w="8167370" h="587375">
                  <a:moveTo>
                    <a:pt x="8041640" y="0"/>
                  </a:moveTo>
                  <a:lnTo>
                    <a:pt x="125595" y="0"/>
                  </a:lnTo>
                  <a:lnTo>
                    <a:pt x="76904" y="9934"/>
                  </a:lnTo>
                  <a:lnTo>
                    <a:pt x="36960" y="36958"/>
                  </a:lnTo>
                  <a:lnTo>
                    <a:pt x="9935" y="76900"/>
                  </a:lnTo>
                  <a:lnTo>
                    <a:pt x="0" y="125590"/>
                  </a:lnTo>
                  <a:lnTo>
                    <a:pt x="0" y="461378"/>
                  </a:lnTo>
                  <a:lnTo>
                    <a:pt x="9935" y="510069"/>
                  </a:lnTo>
                  <a:lnTo>
                    <a:pt x="36960" y="550016"/>
                  </a:lnTo>
                  <a:lnTo>
                    <a:pt x="76904" y="577044"/>
                  </a:lnTo>
                  <a:lnTo>
                    <a:pt x="125595" y="586981"/>
                  </a:lnTo>
                  <a:lnTo>
                    <a:pt x="8041640" y="586981"/>
                  </a:lnTo>
                  <a:lnTo>
                    <a:pt x="8090336" y="577044"/>
                  </a:lnTo>
                  <a:lnTo>
                    <a:pt x="8130282" y="550016"/>
                  </a:lnTo>
                  <a:lnTo>
                    <a:pt x="8157308" y="510069"/>
                  </a:lnTo>
                  <a:lnTo>
                    <a:pt x="8167243" y="461378"/>
                  </a:lnTo>
                  <a:lnTo>
                    <a:pt x="8167243" y="125590"/>
                  </a:lnTo>
                  <a:lnTo>
                    <a:pt x="8157308" y="76900"/>
                  </a:lnTo>
                  <a:lnTo>
                    <a:pt x="8130282" y="36958"/>
                  </a:lnTo>
                  <a:lnTo>
                    <a:pt x="8090336" y="9934"/>
                  </a:lnTo>
                  <a:lnTo>
                    <a:pt x="8041640" y="0"/>
                  </a:lnTo>
                  <a:close/>
                </a:path>
              </a:pathLst>
            </a:custGeom>
            <a:solidFill>
              <a:srgbClr val="4A1E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905" y="4300245"/>
              <a:ext cx="174426" cy="139522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929158" y="4303395"/>
            <a:ext cx="587248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Fine</a:t>
            </a:r>
            <a:r>
              <a:rPr dirty="0" sz="10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amounts</a:t>
            </a:r>
            <a:r>
              <a:rPr dirty="0" sz="10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stored</a:t>
            </a:r>
            <a:r>
              <a:rPr dirty="0" sz="10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within</a:t>
            </a:r>
            <a:r>
              <a:rPr dirty="0" sz="10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FFFFFF"/>
                </a:solidFill>
                <a:latin typeface="Arial"/>
                <a:cs typeface="Arial"/>
              </a:rPr>
              <a:t>Violation</a:t>
            </a:r>
            <a:r>
              <a:rPr dirty="0" sz="105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dirty="0" sz="10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accessed</a:t>
            </a:r>
            <a:r>
              <a:rPr dirty="0" sz="10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via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encapsulated</a:t>
            </a:r>
            <a:r>
              <a:rPr dirty="0" sz="10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getter</a:t>
            </a:r>
            <a:r>
              <a:rPr dirty="0" sz="10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methods.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5257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100"/>
              </a:spcBef>
            </a:pPr>
            <a:r>
              <a:rPr dirty="0" sz="2600"/>
              <a:t>System</a:t>
            </a:r>
            <a:r>
              <a:rPr dirty="0" sz="2600" spc="-100"/>
              <a:t> </a:t>
            </a:r>
            <a:r>
              <a:rPr dirty="0" sz="2600" spc="-10"/>
              <a:t>Workflow</a:t>
            </a:r>
            <a:endParaRPr sz="260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652" y="1033238"/>
            <a:ext cx="7950619" cy="298340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031875" y="3283419"/>
            <a:ext cx="118872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E4DFDF"/>
                </a:solidFill>
                <a:latin typeface="Arial"/>
                <a:cs typeface="Arial"/>
              </a:rPr>
              <a:t>Calculate</a:t>
            </a:r>
            <a:r>
              <a:rPr dirty="0" sz="1450" spc="-10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E4DFDF"/>
                </a:solidFill>
                <a:latin typeface="Arial"/>
                <a:cs typeface="Arial"/>
              </a:rPr>
              <a:t>Fine</a:t>
            </a:r>
            <a:endParaRPr sz="14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525668" y="3167913"/>
            <a:ext cx="117919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E4DFDF"/>
                </a:solidFill>
                <a:latin typeface="Arial"/>
                <a:cs typeface="Arial"/>
              </a:rPr>
              <a:t>Violation</a:t>
            </a:r>
            <a:r>
              <a:rPr dirty="0" sz="1450" spc="-8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E4DFDF"/>
                </a:solidFill>
                <a:latin typeface="Arial"/>
                <a:cs typeface="Arial"/>
              </a:rPr>
              <a:t>Type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04065" y="3167913"/>
            <a:ext cx="616585" cy="4749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20320" marR="5080" indent="-20955">
              <a:lnSpc>
                <a:spcPct val="103400"/>
              </a:lnSpc>
              <a:spcBef>
                <a:spcPts val="40"/>
              </a:spcBef>
            </a:pPr>
            <a:r>
              <a:rPr dirty="0" sz="1450" spc="-10">
                <a:solidFill>
                  <a:srgbClr val="E4DFDF"/>
                </a:solidFill>
                <a:latin typeface="Arial"/>
                <a:cs typeface="Arial"/>
              </a:rPr>
              <a:t>Vehicle Details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550435" y="3283419"/>
            <a:ext cx="111760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E4DFDF"/>
                </a:solidFill>
                <a:latin typeface="Arial"/>
                <a:cs typeface="Arial"/>
              </a:rPr>
              <a:t>Driver</a:t>
            </a:r>
            <a:r>
              <a:rPr dirty="0" sz="145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E4DFDF"/>
                </a:solidFill>
                <a:latin typeface="Arial"/>
                <a:cs typeface="Arial"/>
              </a:rPr>
              <a:t>Details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09148" y="3167913"/>
            <a:ext cx="1128395" cy="4749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465455" marR="5080" indent="-466090">
              <a:lnSpc>
                <a:spcPct val="103400"/>
              </a:lnSpc>
              <a:spcBef>
                <a:spcPts val="40"/>
              </a:spcBef>
            </a:pPr>
            <a:r>
              <a:rPr dirty="0" sz="1450">
                <a:solidFill>
                  <a:srgbClr val="E4DFDF"/>
                </a:solidFill>
                <a:latin typeface="Arial"/>
                <a:cs typeface="Arial"/>
              </a:rPr>
              <a:t>Enter</a:t>
            </a:r>
            <a:r>
              <a:rPr dirty="0" sz="145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E4DFDF"/>
                </a:solidFill>
                <a:latin typeface="Arial"/>
                <a:cs typeface="Arial"/>
              </a:rPr>
              <a:t>Challan </a:t>
            </a:r>
            <a:r>
              <a:rPr dirty="0" sz="1450" spc="-25">
                <a:solidFill>
                  <a:srgbClr val="E4DFDF"/>
                </a:solidFill>
                <a:latin typeface="Arial"/>
                <a:cs typeface="Arial"/>
              </a:rPr>
              <a:t>ID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2461" y="4141380"/>
            <a:ext cx="80137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workflow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guides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user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through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a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linear,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step-by-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step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process.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Each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stage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collects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necessary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data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before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proceeding,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ensuring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E4DFDF"/>
                </a:solidFill>
                <a:latin typeface="Arial"/>
                <a:cs typeface="Arial"/>
              </a:rPr>
              <a:t>data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completeness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before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challan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is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generated.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final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output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includes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driver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data,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vehicle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details,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fine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amount,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payment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status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—</a:t>
            </a:r>
            <a:r>
              <a:rPr dirty="0" sz="10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E4DFDF"/>
                </a:solidFill>
                <a:latin typeface="Arial"/>
                <a:cs typeface="Arial"/>
              </a:rPr>
              <a:t>all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displayed</a:t>
            </a:r>
            <a:r>
              <a:rPr dirty="0" sz="10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in</a:t>
            </a:r>
            <a:r>
              <a:rPr dirty="0" sz="10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a</a:t>
            </a:r>
            <a:r>
              <a:rPr dirty="0" sz="10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structured,</a:t>
            </a:r>
            <a:r>
              <a:rPr dirty="0" sz="10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centered</a:t>
            </a:r>
            <a:r>
              <a:rPr dirty="0" sz="10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4DFDF"/>
                </a:solidFill>
                <a:latin typeface="Arial"/>
                <a:cs typeface="Arial"/>
              </a:rPr>
              <a:t>console</a:t>
            </a:r>
            <a:r>
              <a:rPr dirty="0" sz="10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E4DFDF"/>
                </a:solidFill>
                <a:latin typeface="Arial"/>
                <a:cs typeface="Arial"/>
              </a:rPr>
              <a:t>interface.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8012429" y="4774564"/>
            <a:ext cx="1131570" cy="314960"/>
          </a:xfrm>
          <a:custGeom>
            <a:avLst/>
            <a:gdLst/>
            <a:ahLst/>
            <a:cxnLst/>
            <a:rect l="l" t="t" r="r" b="b"/>
            <a:pathLst>
              <a:path w="1131570" h="314960">
                <a:moveTo>
                  <a:pt x="1131570" y="0"/>
                </a:moveTo>
                <a:lnTo>
                  <a:pt x="0" y="0"/>
                </a:lnTo>
                <a:lnTo>
                  <a:pt x="0" y="314960"/>
                </a:lnTo>
                <a:lnTo>
                  <a:pt x="1131570" y="314960"/>
                </a:lnTo>
                <a:lnTo>
                  <a:pt x="11315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29181" y="4810125"/>
            <a:ext cx="1096010" cy="290830"/>
            <a:chOff x="8029181" y="4810125"/>
            <a:chExt cx="1096010" cy="2908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9181" y="4844491"/>
              <a:ext cx="1071843" cy="25603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036559" y="4810125"/>
              <a:ext cx="1088390" cy="256540"/>
            </a:xfrm>
            <a:custGeom>
              <a:avLst/>
              <a:gdLst/>
              <a:ahLst/>
              <a:cxnLst/>
              <a:rect l="l" t="t" r="r" b="b"/>
              <a:pathLst>
                <a:path w="1088390" h="256539">
                  <a:moveTo>
                    <a:pt x="1088390" y="0"/>
                  </a:moveTo>
                  <a:lnTo>
                    <a:pt x="0" y="0"/>
                  </a:lnTo>
                  <a:lnTo>
                    <a:pt x="0" y="256539"/>
                  </a:lnTo>
                  <a:lnTo>
                    <a:pt x="1088390" y="256539"/>
                  </a:lnTo>
                  <a:lnTo>
                    <a:pt x="10883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196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2300"/>
              <a:t>Program</a:t>
            </a:r>
            <a:r>
              <a:rPr dirty="0" sz="2300" spc="-20"/>
              <a:t> </a:t>
            </a:r>
            <a:r>
              <a:rPr dirty="0" sz="2300"/>
              <a:t>Output</a:t>
            </a:r>
            <a:r>
              <a:rPr dirty="0" sz="2300" spc="-15"/>
              <a:t> </a:t>
            </a:r>
            <a:r>
              <a:rPr dirty="0" sz="2300" spc="-10"/>
              <a:t>Features</a:t>
            </a:r>
            <a:endParaRPr sz="2300"/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642" y="954956"/>
            <a:ext cx="5165153" cy="309905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965202" y="1781403"/>
            <a:ext cx="111315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Interface</a:t>
            </a:r>
            <a:r>
              <a:rPr dirty="0" sz="11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Display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77902" y="2075256"/>
            <a:ext cx="2649220" cy="858519"/>
          </a:xfrm>
          <a:prstGeom prst="rect">
            <a:avLst/>
          </a:prstGeom>
          <a:solidFill>
            <a:srgbClr val="000000"/>
          </a:solidFill>
        </p:spPr>
        <p:txBody>
          <a:bodyPr wrap="square" lIns="0" tIns="3810" rIns="0" bIns="0" rtlCol="0" vert="horz">
            <a:spAutoFit/>
          </a:bodyPr>
          <a:lstStyle/>
          <a:p>
            <a:pPr marR="48260" indent="55244">
              <a:lnSpc>
                <a:spcPts val="1350"/>
              </a:lnSpc>
              <a:spcBef>
                <a:spcPts val="30"/>
              </a:spcBef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system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uses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centerText()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align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clean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console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interface,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ASCII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display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traffic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visuals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police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officer, road,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car.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Formatted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challan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receipts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organized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layout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65202" y="3083941"/>
            <a:ext cx="1821814" cy="36830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44475">
              <a:lnSpc>
                <a:spcPct val="100000"/>
              </a:lnSpc>
              <a:spcBef>
                <a:spcPts val="370"/>
              </a:spcBef>
              <a:tabLst>
                <a:tab pos="1210945" algn="l"/>
              </a:tabLst>
            </a:pPr>
            <a:r>
              <a:rPr dirty="0" sz="900" spc="-10">
                <a:latin typeface="Calibri"/>
                <a:cs typeface="Calibri"/>
              </a:rPr>
              <a:t>centerText()</a:t>
            </a:r>
            <a:r>
              <a:rPr dirty="0" sz="900" spc="65">
                <a:latin typeface="Calibri"/>
                <a:cs typeface="Calibri"/>
              </a:rPr>
              <a:t> </a:t>
            </a:r>
            <a:r>
              <a:rPr dirty="0" sz="900" spc="-25">
                <a:latin typeface="Calibri"/>
                <a:cs typeface="Calibri"/>
              </a:rPr>
              <a:t>to</a:t>
            </a:r>
            <a:r>
              <a:rPr dirty="0" sz="900">
                <a:latin typeface="Calibri"/>
                <a:cs typeface="Calibri"/>
              </a:rPr>
              <a:t>	</a:t>
            </a:r>
            <a:r>
              <a:rPr dirty="0" sz="900" spc="-25">
                <a:latin typeface="Calibri"/>
                <a:cs typeface="Calibri"/>
              </a:rPr>
              <a:t>all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666115" algn="l"/>
                <a:tab pos="1675764" algn="l"/>
              </a:tabLst>
            </a:pPr>
            <a:r>
              <a:rPr dirty="0" sz="900" spc="-10">
                <a:latin typeface="Calibri"/>
                <a:cs typeface="Calibri"/>
              </a:rPr>
              <a:t>clean</a:t>
            </a:r>
            <a:r>
              <a:rPr dirty="0" sz="900">
                <a:latin typeface="Calibri"/>
                <a:cs typeface="Calibri"/>
              </a:rPr>
              <a:t>	interface,</a:t>
            </a:r>
            <a:r>
              <a:rPr dirty="0" sz="900" spc="-45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while</a:t>
            </a:r>
            <a:r>
              <a:rPr dirty="0" sz="900">
                <a:latin typeface="Calibri"/>
                <a:cs typeface="Calibri"/>
              </a:rPr>
              <a:t>	</a:t>
            </a:r>
            <a:r>
              <a:rPr dirty="0" sz="900" spc="-25">
                <a:latin typeface="Calibri"/>
                <a:cs typeface="Calibri"/>
              </a:rPr>
              <a:t>art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65202" y="3461130"/>
            <a:ext cx="15627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9835" algn="l"/>
              </a:tabLst>
            </a:pPr>
            <a:r>
              <a:rPr dirty="0" sz="900">
                <a:latin typeface="Calibri"/>
                <a:cs typeface="Calibri"/>
              </a:rPr>
              <a:t>traffic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visuals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like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a</a:t>
            </a:r>
            <a:r>
              <a:rPr dirty="0" sz="900">
                <a:latin typeface="Calibri"/>
                <a:cs typeface="Calibri"/>
              </a:rPr>
              <a:t>	</a:t>
            </a:r>
            <a:r>
              <a:rPr dirty="0" sz="900" spc="-10">
                <a:latin typeface="Calibri"/>
                <a:cs typeface="Calibri"/>
              </a:rPr>
              <a:t>officer,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797088" y="3083941"/>
            <a:ext cx="807720" cy="53975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92405">
              <a:lnSpc>
                <a:spcPct val="100000"/>
              </a:lnSpc>
              <a:spcBef>
                <a:spcPts val="370"/>
              </a:spcBef>
            </a:pPr>
            <a:r>
              <a:rPr dirty="0" sz="900" spc="-10">
                <a:latin typeface="Calibri"/>
                <a:cs typeface="Calibri"/>
              </a:rPr>
              <a:t>center</a:t>
            </a:r>
            <a:endParaRPr sz="900">
              <a:latin typeface="Calibri"/>
              <a:cs typeface="Calibri"/>
            </a:endParaRPr>
          </a:p>
          <a:p>
            <a:pPr marL="12700" marR="5080" indent="86360">
              <a:lnSpc>
                <a:spcPct val="125000"/>
              </a:lnSpc>
            </a:pPr>
            <a:r>
              <a:rPr dirty="0" sz="900">
                <a:latin typeface="Calibri"/>
                <a:cs typeface="Calibri"/>
              </a:rPr>
              <a:t>used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display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and</a:t>
            </a:r>
            <a:r>
              <a:rPr dirty="0" sz="900" spc="-10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car.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65202" y="3598290"/>
            <a:ext cx="247840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  <a:tabLst>
                <a:tab pos="1173480" algn="l"/>
                <a:tab pos="1815464" algn="l"/>
              </a:tabLst>
            </a:pPr>
            <a:r>
              <a:rPr dirty="0" sz="900">
                <a:latin typeface="Calibri"/>
                <a:cs typeface="Calibri"/>
              </a:rPr>
              <a:t>Formatted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challan</a:t>
            </a:r>
            <a:r>
              <a:rPr dirty="0" sz="900" spc="-10">
                <a:latin typeface="Calibri"/>
                <a:cs typeface="Calibri"/>
              </a:rPr>
              <a:t> receipts </a:t>
            </a:r>
            <a:r>
              <a:rPr dirty="0" sz="900">
                <a:latin typeface="Calibri"/>
                <a:cs typeface="Calibri"/>
              </a:rPr>
              <a:t>and</a:t>
            </a:r>
            <a:r>
              <a:rPr dirty="0" sz="900" spc="-10">
                <a:latin typeface="Calibri"/>
                <a:cs typeface="Calibri"/>
              </a:rPr>
              <a:t> organized </a:t>
            </a:r>
            <a:r>
              <a:rPr dirty="0" sz="900">
                <a:latin typeface="Calibri"/>
                <a:cs typeface="Calibri"/>
              </a:rPr>
              <a:t>text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layout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improve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 spc="-25">
                <a:latin typeface="Calibri"/>
                <a:cs typeface="Calibri"/>
              </a:rPr>
              <a:t>the</a:t>
            </a:r>
            <a:r>
              <a:rPr dirty="0" sz="900">
                <a:latin typeface="Calibri"/>
                <a:cs typeface="Calibri"/>
              </a:rPr>
              <a:t>	</a:t>
            </a:r>
            <a:r>
              <a:rPr dirty="0" sz="900" spc="-10">
                <a:latin typeface="Calibri"/>
                <a:cs typeface="Calibri"/>
              </a:rPr>
              <a:t>interface</a:t>
            </a:r>
            <a:r>
              <a:rPr dirty="0" sz="900">
                <a:latin typeface="Calibri"/>
                <a:cs typeface="Calibri"/>
              </a:rPr>
              <a:t>	</a:t>
            </a:r>
            <a:r>
              <a:rPr dirty="0" sz="900" spc="-10">
                <a:latin typeface="Calibri"/>
                <a:cs typeface="Calibri"/>
              </a:rPr>
              <a:t>readability.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39802" y="2915030"/>
            <a:ext cx="1853564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 spc="-220">
                <a:latin typeface="Calibri"/>
                <a:cs typeface="Calibri"/>
              </a:rPr>
              <a:t>i</a:t>
            </a:r>
            <a:r>
              <a:rPr dirty="0" baseline="-38647" sz="1725" spc="-937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900" spc="-100">
                <a:latin typeface="Calibri"/>
                <a:cs typeface="Calibri"/>
              </a:rPr>
              <a:t>m</a:t>
            </a:r>
            <a:r>
              <a:rPr dirty="0" baseline="-38647" sz="1725" spc="-825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900" spc="-10">
                <a:latin typeface="Calibri"/>
                <a:cs typeface="Calibri"/>
              </a:rPr>
              <a:t>p</a:t>
            </a:r>
            <a:r>
              <a:rPr dirty="0" sz="900" spc="-245">
                <a:latin typeface="Calibri"/>
                <a:cs typeface="Calibri"/>
              </a:rPr>
              <a:t>r</a:t>
            </a:r>
            <a:r>
              <a:rPr dirty="0" baseline="-38647" sz="1725" spc="-6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900" spc="-85">
                <a:latin typeface="Calibri"/>
                <a:cs typeface="Calibri"/>
              </a:rPr>
              <a:t>o</a:t>
            </a:r>
            <a:r>
              <a:rPr dirty="0" baseline="-38647" sz="1725" spc="-277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900" spc="-235">
                <a:latin typeface="Calibri"/>
                <a:cs typeface="Calibri"/>
              </a:rPr>
              <a:t>v</a:t>
            </a:r>
            <a:r>
              <a:rPr dirty="0" baseline="-38647" sz="1725" spc="-44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900" spc="-425">
                <a:latin typeface="Calibri"/>
                <a:cs typeface="Calibri"/>
              </a:rPr>
              <a:t>e</a:t>
            </a:r>
            <a:r>
              <a:rPr dirty="0" baseline="-38647" sz="1725" spc="-7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baseline="-38647" sz="1725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baseline="-38647" sz="1725" spc="97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-38647" sz="1725" spc="-592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900" spc="-110">
                <a:latin typeface="Calibri"/>
                <a:cs typeface="Calibri"/>
              </a:rPr>
              <a:t>o</a:t>
            </a:r>
            <a:r>
              <a:rPr dirty="0" baseline="-38647" sz="1725" spc="-839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900" spc="-20">
                <a:latin typeface="Calibri"/>
                <a:cs typeface="Calibri"/>
              </a:rPr>
              <a:t>v</a:t>
            </a:r>
            <a:r>
              <a:rPr dirty="0" sz="900" spc="-325">
                <a:latin typeface="Calibri"/>
                <a:cs typeface="Calibri"/>
              </a:rPr>
              <a:t>e</a:t>
            </a:r>
            <a:r>
              <a:rPr dirty="0" baseline="-38647" sz="1725" spc="-419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900" spc="-60">
                <a:latin typeface="Calibri"/>
                <a:cs typeface="Calibri"/>
              </a:rPr>
              <a:t>r</a:t>
            </a:r>
            <a:r>
              <a:rPr dirty="0" baseline="-38647" sz="1725" spc="-907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900" spc="-15">
                <a:latin typeface="Calibri"/>
                <a:cs typeface="Calibri"/>
              </a:rPr>
              <a:t>a</a:t>
            </a:r>
            <a:r>
              <a:rPr dirty="0" sz="900" spc="-65">
                <a:latin typeface="Calibri"/>
                <a:cs typeface="Calibri"/>
              </a:rPr>
              <a:t>l</a:t>
            </a:r>
            <a:r>
              <a:rPr dirty="0" baseline="-38647" sz="1725" spc="-337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900" spc="-10">
                <a:latin typeface="Calibri"/>
                <a:cs typeface="Calibri"/>
              </a:rPr>
              <a:t>l</a:t>
            </a:r>
            <a:r>
              <a:rPr dirty="0" baseline="-38647" sz="1725" spc="-3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baseline="-38647" sz="1725" spc="-15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baseline="-38647" sz="1725" spc="1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-38647" sz="1725" spc="-157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900" spc="-80">
                <a:latin typeface="Calibri"/>
                <a:cs typeface="Calibri"/>
              </a:rPr>
              <a:t>i</a:t>
            </a:r>
            <a:r>
              <a:rPr dirty="0" baseline="-38647" sz="1725" spc="-81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900" spc="5">
                <a:latin typeface="Calibri"/>
                <a:cs typeface="Calibri"/>
              </a:rPr>
              <a:t>n</a:t>
            </a:r>
            <a:r>
              <a:rPr dirty="0" sz="900" spc="-210">
                <a:latin typeface="Calibri"/>
                <a:cs typeface="Calibri"/>
              </a:rPr>
              <a:t>t</a:t>
            </a:r>
            <a:r>
              <a:rPr dirty="0" baseline="-38647" sz="1725" spc="-607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900" spc="-20">
                <a:latin typeface="Calibri"/>
                <a:cs typeface="Calibri"/>
              </a:rPr>
              <a:t>e</a:t>
            </a:r>
            <a:r>
              <a:rPr dirty="0" baseline="-38647" sz="1725" spc="-434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900" spc="-10">
                <a:latin typeface="Calibri"/>
                <a:cs typeface="Calibri"/>
              </a:rPr>
              <a:t>r</a:t>
            </a:r>
            <a:r>
              <a:rPr dirty="0" baseline="-38647" sz="1725" spc="-907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900" spc="5">
                <a:latin typeface="Calibri"/>
                <a:cs typeface="Calibri"/>
              </a:rPr>
              <a:t>f</a:t>
            </a:r>
            <a:r>
              <a:rPr dirty="0" sz="900" spc="-75">
                <a:latin typeface="Calibri"/>
                <a:cs typeface="Calibri"/>
              </a:rPr>
              <a:t>a</a:t>
            </a:r>
            <a:r>
              <a:rPr dirty="0" baseline="-38647" sz="1725" spc="-232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900" spc="-200">
                <a:latin typeface="Calibri"/>
                <a:cs typeface="Calibri"/>
              </a:rPr>
              <a:t>c</a:t>
            </a:r>
            <a:r>
              <a:rPr dirty="0" baseline="-38647" sz="1725" spc="-622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900" spc="-10">
                <a:latin typeface="Calibri"/>
                <a:cs typeface="Calibri"/>
              </a:rPr>
              <a:t>e</a:t>
            </a:r>
            <a:r>
              <a:rPr dirty="0" baseline="-38647" sz="1725" spc="-509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900" spc="10">
                <a:latin typeface="Calibri"/>
                <a:cs typeface="Calibri"/>
              </a:rPr>
              <a:t>a</a:t>
            </a:r>
            <a:r>
              <a:rPr dirty="0" sz="900" spc="5">
                <a:latin typeface="Calibri"/>
                <a:cs typeface="Calibri"/>
              </a:rPr>
              <a:t>nd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21642" y="4337227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4">
                <a:moveTo>
                  <a:pt x="29318" y="0"/>
                </a:moveTo>
                <a:lnTo>
                  <a:pt x="17952" y="2319"/>
                </a:lnTo>
                <a:lnTo>
                  <a:pt x="8627" y="8628"/>
                </a:lnTo>
                <a:lnTo>
                  <a:pt x="2319" y="17954"/>
                </a:lnTo>
                <a:lnTo>
                  <a:pt x="0" y="29324"/>
                </a:lnTo>
                <a:lnTo>
                  <a:pt x="2319" y="40687"/>
                </a:lnTo>
                <a:lnTo>
                  <a:pt x="8627" y="50009"/>
                </a:lnTo>
                <a:lnTo>
                  <a:pt x="17952" y="56316"/>
                </a:lnTo>
                <a:lnTo>
                  <a:pt x="29318" y="58635"/>
                </a:lnTo>
                <a:lnTo>
                  <a:pt x="40685" y="56316"/>
                </a:lnTo>
                <a:lnTo>
                  <a:pt x="50009" y="50009"/>
                </a:lnTo>
                <a:lnTo>
                  <a:pt x="56318" y="40687"/>
                </a:lnTo>
                <a:lnTo>
                  <a:pt x="58637" y="29324"/>
                </a:lnTo>
                <a:lnTo>
                  <a:pt x="56318" y="17954"/>
                </a:lnTo>
                <a:lnTo>
                  <a:pt x="50009" y="8628"/>
                </a:lnTo>
                <a:lnTo>
                  <a:pt x="40685" y="2319"/>
                </a:lnTo>
                <a:lnTo>
                  <a:pt x="29318" y="0"/>
                </a:lnTo>
                <a:close/>
              </a:path>
            </a:pathLst>
          </a:custGeom>
          <a:solidFill>
            <a:srgbClr val="FB83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64766" y="4291812"/>
            <a:ext cx="13404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Challan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ID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&amp;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Driver</a:t>
            </a:r>
            <a:r>
              <a:rPr dirty="0" sz="9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Name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632718" y="4337227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4">
                <a:moveTo>
                  <a:pt x="29318" y="0"/>
                </a:moveTo>
                <a:lnTo>
                  <a:pt x="17952" y="2319"/>
                </a:lnTo>
                <a:lnTo>
                  <a:pt x="8627" y="8628"/>
                </a:lnTo>
                <a:lnTo>
                  <a:pt x="2319" y="17954"/>
                </a:lnTo>
                <a:lnTo>
                  <a:pt x="0" y="29324"/>
                </a:lnTo>
                <a:lnTo>
                  <a:pt x="2319" y="40687"/>
                </a:lnTo>
                <a:lnTo>
                  <a:pt x="8627" y="50009"/>
                </a:lnTo>
                <a:lnTo>
                  <a:pt x="17952" y="56316"/>
                </a:lnTo>
                <a:lnTo>
                  <a:pt x="29318" y="58635"/>
                </a:lnTo>
                <a:lnTo>
                  <a:pt x="40685" y="56316"/>
                </a:lnTo>
                <a:lnTo>
                  <a:pt x="50009" y="50009"/>
                </a:lnTo>
                <a:lnTo>
                  <a:pt x="56318" y="40687"/>
                </a:lnTo>
                <a:lnTo>
                  <a:pt x="58637" y="29324"/>
                </a:lnTo>
                <a:lnTo>
                  <a:pt x="56318" y="17954"/>
                </a:lnTo>
                <a:lnTo>
                  <a:pt x="50009" y="8628"/>
                </a:lnTo>
                <a:lnTo>
                  <a:pt x="40685" y="2319"/>
                </a:lnTo>
                <a:lnTo>
                  <a:pt x="29318" y="0"/>
                </a:lnTo>
                <a:close/>
              </a:path>
            </a:pathLst>
          </a:custGeom>
          <a:solidFill>
            <a:srgbClr val="FB83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775847" y="4291812"/>
            <a:ext cx="18103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License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Number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&amp;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Vehicle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Number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21642" y="4703343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4">
                <a:moveTo>
                  <a:pt x="29318" y="0"/>
                </a:moveTo>
                <a:lnTo>
                  <a:pt x="17952" y="2319"/>
                </a:lnTo>
                <a:lnTo>
                  <a:pt x="8627" y="8628"/>
                </a:lnTo>
                <a:lnTo>
                  <a:pt x="2319" y="17954"/>
                </a:lnTo>
                <a:lnTo>
                  <a:pt x="0" y="29324"/>
                </a:lnTo>
                <a:lnTo>
                  <a:pt x="2319" y="40687"/>
                </a:lnTo>
                <a:lnTo>
                  <a:pt x="8627" y="50009"/>
                </a:lnTo>
                <a:lnTo>
                  <a:pt x="17952" y="56316"/>
                </a:lnTo>
                <a:lnTo>
                  <a:pt x="29318" y="58635"/>
                </a:lnTo>
                <a:lnTo>
                  <a:pt x="40685" y="56316"/>
                </a:lnTo>
                <a:lnTo>
                  <a:pt x="50009" y="50009"/>
                </a:lnTo>
                <a:lnTo>
                  <a:pt x="56318" y="40687"/>
                </a:lnTo>
                <a:lnTo>
                  <a:pt x="58637" y="29324"/>
                </a:lnTo>
                <a:lnTo>
                  <a:pt x="56318" y="17954"/>
                </a:lnTo>
                <a:lnTo>
                  <a:pt x="50009" y="8628"/>
                </a:lnTo>
                <a:lnTo>
                  <a:pt x="40685" y="2319"/>
                </a:lnTo>
                <a:lnTo>
                  <a:pt x="29318" y="0"/>
                </a:lnTo>
                <a:close/>
              </a:path>
            </a:pathLst>
          </a:custGeom>
          <a:solidFill>
            <a:srgbClr val="FB83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664766" y="4657928"/>
            <a:ext cx="1536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Violation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Type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&amp;</a:t>
            </a:r>
            <a:r>
              <a:rPr dirty="0" sz="9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Fine</a:t>
            </a:r>
            <a:r>
              <a:rPr dirty="0" sz="9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Amount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632718" y="4703343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4">
                <a:moveTo>
                  <a:pt x="29318" y="0"/>
                </a:moveTo>
                <a:lnTo>
                  <a:pt x="17952" y="2319"/>
                </a:lnTo>
                <a:lnTo>
                  <a:pt x="8627" y="8628"/>
                </a:lnTo>
                <a:lnTo>
                  <a:pt x="2319" y="17954"/>
                </a:lnTo>
                <a:lnTo>
                  <a:pt x="0" y="29324"/>
                </a:lnTo>
                <a:lnTo>
                  <a:pt x="2319" y="40687"/>
                </a:lnTo>
                <a:lnTo>
                  <a:pt x="8627" y="50009"/>
                </a:lnTo>
                <a:lnTo>
                  <a:pt x="17952" y="56316"/>
                </a:lnTo>
                <a:lnTo>
                  <a:pt x="29318" y="58635"/>
                </a:lnTo>
                <a:lnTo>
                  <a:pt x="40685" y="56316"/>
                </a:lnTo>
                <a:lnTo>
                  <a:pt x="50009" y="50009"/>
                </a:lnTo>
                <a:lnTo>
                  <a:pt x="56318" y="40687"/>
                </a:lnTo>
                <a:lnTo>
                  <a:pt x="58637" y="29324"/>
                </a:lnTo>
                <a:lnTo>
                  <a:pt x="56318" y="17954"/>
                </a:lnTo>
                <a:lnTo>
                  <a:pt x="50009" y="8628"/>
                </a:lnTo>
                <a:lnTo>
                  <a:pt x="40685" y="2319"/>
                </a:lnTo>
                <a:lnTo>
                  <a:pt x="29318" y="0"/>
                </a:lnTo>
                <a:close/>
              </a:path>
            </a:pathLst>
          </a:custGeom>
          <a:solidFill>
            <a:srgbClr val="FB83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4775847" y="4657928"/>
            <a:ext cx="8318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E4DFDF"/>
                </a:solidFill>
                <a:latin typeface="Arial"/>
                <a:cs typeface="Arial"/>
              </a:rPr>
              <a:t>Payment</a:t>
            </a:r>
            <a:r>
              <a:rPr dirty="0" sz="9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4DFDF"/>
                </a:solidFill>
                <a:latin typeface="Arial"/>
                <a:cs typeface="Arial"/>
              </a:rPr>
              <a:t>Status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227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70"/>
              <a:t> </a:t>
            </a:r>
            <a:r>
              <a:rPr dirty="0"/>
              <a:t>Future</a:t>
            </a:r>
            <a:r>
              <a:rPr dirty="0" spc="-70"/>
              <a:t> </a:t>
            </a:r>
            <a:r>
              <a:rPr dirty="0" spc="-10"/>
              <a:t>Roadmap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21431" y="909193"/>
            <a:ext cx="479234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27200"/>
              </a:lnSpc>
              <a:spcBef>
                <a:spcPts val="100"/>
              </a:spcBef>
            </a:pP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The</a:t>
            </a:r>
            <a:r>
              <a:rPr dirty="0" sz="9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E4DFDF"/>
                </a:solidFill>
                <a:latin typeface="Arial"/>
                <a:cs typeface="Arial"/>
              </a:rPr>
              <a:t>Smart</a:t>
            </a:r>
            <a:r>
              <a:rPr dirty="0" sz="950" spc="-15" b="1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E4DFDF"/>
                </a:solidFill>
                <a:latin typeface="Arial"/>
                <a:cs typeface="Arial"/>
              </a:rPr>
              <a:t>Traffic</a:t>
            </a:r>
            <a:r>
              <a:rPr dirty="0" sz="950" spc="-15" b="1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E4DFDF"/>
                </a:solidFill>
                <a:latin typeface="Arial"/>
                <a:cs typeface="Arial"/>
              </a:rPr>
              <a:t>Violation</a:t>
            </a:r>
            <a:r>
              <a:rPr dirty="0" sz="950" spc="-15" b="1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E4DFDF"/>
                </a:solidFill>
                <a:latin typeface="Arial"/>
                <a:cs typeface="Arial"/>
              </a:rPr>
              <a:t>Management</a:t>
            </a:r>
            <a:r>
              <a:rPr dirty="0" sz="950" spc="-15" b="1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E4DFDF"/>
                </a:solidFill>
                <a:latin typeface="Arial"/>
                <a:cs typeface="Arial"/>
              </a:rPr>
              <a:t>System</a:t>
            </a:r>
            <a:r>
              <a:rPr dirty="0" sz="950" spc="-10" b="1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successfully</a:t>
            </a:r>
            <a:r>
              <a:rPr dirty="0" sz="9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demonstrates</a:t>
            </a:r>
            <a:r>
              <a:rPr dirty="0" sz="9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how</a:t>
            </a:r>
            <a:r>
              <a:rPr dirty="0" sz="9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E4DFDF"/>
                </a:solidFill>
                <a:latin typeface="Arial"/>
                <a:cs typeface="Arial"/>
              </a:rPr>
              <a:t>OOP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principles</a:t>
            </a:r>
            <a:r>
              <a:rPr dirty="0" sz="9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in</a:t>
            </a:r>
            <a:r>
              <a:rPr dirty="0" sz="95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C++</a:t>
            </a:r>
            <a:r>
              <a:rPr dirty="0" sz="9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can</a:t>
            </a:r>
            <a:r>
              <a:rPr dirty="0" sz="95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solve</a:t>
            </a:r>
            <a:r>
              <a:rPr dirty="0" sz="950" spc="-10">
                <a:solidFill>
                  <a:srgbClr val="E4DFDF"/>
                </a:solidFill>
                <a:latin typeface="Arial"/>
                <a:cs typeface="Arial"/>
              </a:rPr>
              <a:t> real-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world</a:t>
            </a:r>
            <a:r>
              <a:rPr dirty="0" sz="9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problems</a:t>
            </a:r>
            <a:r>
              <a:rPr dirty="0" sz="95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—</a:t>
            </a:r>
            <a:r>
              <a:rPr dirty="0" sz="95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reducing</a:t>
            </a:r>
            <a:r>
              <a:rPr dirty="0" sz="9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manual</a:t>
            </a:r>
            <a:r>
              <a:rPr dirty="0" sz="95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effort,</a:t>
            </a:r>
            <a:r>
              <a:rPr dirty="0" sz="950" spc="-10">
                <a:solidFill>
                  <a:srgbClr val="E4DFDF"/>
                </a:solidFill>
                <a:latin typeface="Arial"/>
                <a:cs typeface="Arial"/>
              </a:rPr>
              <a:t> improving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accuracy,</a:t>
            </a:r>
            <a:r>
              <a:rPr dirty="0" sz="95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95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digitizing</a:t>
            </a:r>
            <a:r>
              <a:rPr dirty="0" sz="95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challan</a:t>
            </a:r>
            <a:r>
              <a:rPr dirty="0" sz="95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E4DFDF"/>
                </a:solidFill>
                <a:latin typeface="Arial"/>
                <a:cs typeface="Arial"/>
              </a:rPr>
              <a:t>generation.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26987" y="1597450"/>
            <a:ext cx="4861560" cy="2814955"/>
            <a:chOff x="426987" y="1597450"/>
            <a:chExt cx="4861560" cy="2814955"/>
          </a:xfrm>
        </p:grpSpPr>
        <p:sp>
          <p:nvSpPr>
            <p:cNvPr id="6" name="object 6" descr=""/>
            <p:cNvSpPr/>
            <p:nvPr/>
          </p:nvSpPr>
          <p:spPr>
            <a:xfrm>
              <a:off x="434131" y="1604594"/>
              <a:ext cx="4846955" cy="2800350"/>
            </a:xfrm>
            <a:custGeom>
              <a:avLst/>
              <a:gdLst/>
              <a:ahLst/>
              <a:cxnLst/>
              <a:rect l="l" t="t" r="r" b="b"/>
              <a:pathLst>
                <a:path w="4846955" h="2800350">
                  <a:moveTo>
                    <a:pt x="4735093" y="0"/>
                  </a:moveTo>
                  <a:lnTo>
                    <a:pt x="111649" y="0"/>
                  </a:lnTo>
                  <a:lnTo>
                    <a:pt x="68364" y="8832"/>
                  </a:lnTo>
                  <a:lnTo>
                    <a:pt x="32856" y="32858"/>
                  </a:lnTo>
                  <a:lnTo>
                    <a:pt x="8832" y="68365"/>
                  </a:lnTo>
                  <a:lnTo>
                    <a:pt x="0" y="111645"/>
                  </a:lnTo>
                  <a:lnTo>
                    <a:pt x="0" y="2688704"/>
                  </a:lnTo>
                  <a:lnTo>
                    <a:pt x="8832" y="2731984"/>
                  </a:lnTo>
                  <a:lnTo>
                    <a:pt x="32856" y="2767491"/>
                  </a:lnTo>
                  <a:lnTo>
                    <a:pt x="68364" y="2791517"/>
                  </a:lnTo>
                  <a:lnTo>
                    <a:pt x="111649" y="2800350"/>
                  </a:lnTo>
                  <a:lnTo>
                    <a:pt x="4735093" y="2800350"/>
                  </a:lnTo>
                  <a:lnTo>
                    <a:pt x="4778373" y="2791517"/>
                  </a:lnTo>
                  <a:lnTo>
                    <a:pt x="4813881" y="2767491"/>
                  </a:lnTo>
                  <a:lnTo>
                    <a:pt x="4837906" y="2731984"/>
                  </a:lnTo>
                  <a:lnTo>
                    <a:pt x="4846739" y="2688704"/>
                  </a:lnTo>
                  <a:lnTo>
                    <a:pt x="4846739" y="111645"/>
                  </a:lnTo>
                  <a:lnTo>
                    <a:pt x="4837906" y="68365"/>
                  </a:lnTo>
                  <a:lnTo>
                    <a:pt x="4813881" y="32858"/>
                  </a:lnTo>
                  <a:lnTo>
                    <a:pt x="4778373" y="8832"/>
                  </a:lnTo>
                  <a:lnTo>
                    <a:pt x="4735093" y="0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34131" y="1604594"/>
              <a:ext cx="4846955" cy="2800350"/>
            </a:xfrm>
            <a:custGeom>
              <a:avLst/>
              <a:gdLst/>
              <a:ahLst/>
              <a:cxnLst/>
              <a:rect l="l" t="t" r="r" b="b"/>
              <a:pathLst>
                <a:path w="4846955" h="2800350">
                  <a:moveTo>
                    <a:pt x="0" y="111645"/>
                  </a:moveTo>
                  <a:lnTo>
                    <a:pt x="8832" y="68365"/>
                  </a:lnTo>
                  <a:lnTo>
                    <a:pt x="32856" y="32858"/>
                  </a:lnTo>
                  <a:lnTo>
                    <a:pt x="68364" y="8832"/>
                  </a:lnTo>
                  <a:lnTo>
                    <a:pt x="111649" y="0"/>
                  </a:lnTo>
                  <a:lnTo>
                    <a:pt x="4735093" y="0"/>
                  </a:lnTo>
                  <a:lnTo>
                    <a:pt x="4778373" y="8832"/>
                  </a:lnTo>
                  <a:lnTo>
                    <a:pt x="4813881" y="32858"/>
                  </a:lnTo>
                  <a:lnTo>
                    <a:pt x="4837906" y="68365"/>
                  </a:lnTo>
                  <a:lnTo>
                    <a:pt x="4846739" y="111645"/>
                  </a:lnTo>
                  <a:lnTo>
                    <a:pt x="4846739" y="2688704"/>
                  </a:lnTo>
                  <a:lnTo>
                    <a:pt x="4837906" y="2731984"/>
                  </a:lnTo>
                  <a:lnTo>
                    <a:pt x="4813881" y="2767491"/>
                  </a:lnTo>
                  <a:lnTo>
                    <a:pt x="4778373" y="2791517"/>
                  </a:lnTo>
                  <a:lnTo>
                    <a:pt x="4735093" y="2800350"/>
                  </a:lnTo>
                  <a:lnTo>
                    <a:pt x="111649" y="2800350"/>
                  </a:lnTo>
                  <a:lnTo>
                    <a:pt x="68364" y="2791517"/>
                  </a:lnTo>
                  <a:lnTo>
                    <a:pt x="32856" y="2767491"/>
                  </a:lnTo>
                  <a:lnTo>
                    <a:pt x="8832" y="2731984"/>
                  </a:lnTo>
                  <a:lnTo>
                    <a:pt x="0" y="2688704"/>
                  </a:lnTo>
                  <a:lnTo>
                    <a:pt x="0" y="111645"/>
                  </a:lnTo>
                  <a:close/>
                </a:path>
              </a:pathLst>
            </a:custGeom>
            <a:ln w="14287">
              <a:solidFill>
                <a:srgbClr val="FB83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48411" y="1618881"/>
              <a:ext cx="4818380" cy="2771775"/>
            </a:xfrm>
            <a:custGeom>
              <a:avLst/>
              <a:gdLst/>
              <a:ahLst/>
              <a:cxnLst/>
              <a:rect l="l" t="t" r="r" b="b"/>
              <a:pathLst>
                <a:path w="4818380" h="2771775">
                  <a:moveTo>
                    <a:pt x="4818164" y="1385887"/>
                  </a:moveTo>
                  <a:lnTo>
                    <a:pt x="0" y="1385887"/>
                  </a:lnTo>
                  <a:lnTo>
                    <a:pt x="0" y="2078824"/>
                  </a:lnTo>
                  <a:lnTo>
                    <a:pt x="0" y="2771762"/>
                  </a:lnTo>
                  <a:lnTo>
                    <a:pt x="4818164" y="2771762"/>
                  </a:lnTo>
                  <a:lnTo>
                    <a:pt x="4818164" y="2078824"/>
                  </a:lnTo>
                  <a:lnTo>
                    <a:pt x="4818164" y="1385887"/>
                  </a:lnTo>
                  <a:close/>
                </a:path>
                <a:path w="4818380" h="2771775">
                  <a:moveTo>
                    <a:pt x="4818164" y="111645"/>
                  </a:moveTo>
                  <a:lnTo>
                    <a:pt x="4809337" y="68364"/>
                  </a:lnTo>
                  <a:lnTo>
                    <a:pt x="4785309" y="32854"/>
                  </a:lnTo>
                  <a:lnTo>
                    <a:pt x="4749800" y="8839"/>
                  </a:lnTo>
                  <a:lnTo>
                    <a:pt x="4706518" y="0"/>
                  </a:lnTo>
                  <a:lnTo>
                    <a:pt x="111645" y="0"/>
                  </a:lnTo>
                  <a:lnTo>
                    <a:pt x="68364" y="8839"/>
                  </a:lnTo>
                  <a:lnTo>
                    <a:pt x="32854" y="32854"/>
                  </a:lnTo>
                  <a:lnTo>
                    <a:pt x="8826" y="68364"/>
                  </a:lnTo>
                  <a:lnTo>
                    <a:pt x="0" y="111645"/>
                  </a:lnTo>
                  <a:lnTo>
                    <a:pt x="0" y="581304"/>
                  </a:lnTo>
                  <a:lnTo>
                    <a:pt x="8826" y="624586"/>
                  </a:lnTo>
                  <a:lnTo>
                    <a:pt x="32854" y="660095"/>
                  </a:lnTo>
                  <a:lnTo>
                    <a:pt x="68364" y="684110"/>
                  </a:lnTo>
                  <a:lnTo>
                    <a:pt x="111645" y="692937"/>
                  </a:lnTo>
                  <a:lnTo>
                    <a:pt x="0" y="692937"/>
                  </a:lnTo>
                  <a:lnTo>
                    <a:pt x="0" y="1385874"/>
                  </a:lnTo>
                  <a:lnTo>
                    <a:pt x="4818164" y="1385874"/>
                  </a:lnTo>
                  <a:lnTo>
                    <a:pt x="4818164" y="692937"/>
                  </a:lnTo>
                  <a:lnTo>
                    <a:pt x="4706518" y="692937"/>
                  </a:lnTo>
                  <a:lnTo>
                    <a:pt x="4749800" y="684110"/>
                  </a:lnTo>
                  <a:lnTo>
                    <a:pt x="4785309" y="660095"/>
                  </a:lnTo>
                  <a:lnTo>
                    <a:pt x="4809337" y="624586"/>
                  </a:lnTo>
                  <a:lnTo>
                    <a:pt x="4818164" y="581304"/>
                  </a:lnTo>
                  <a:lnTo>
                    <a:pt x="4818164" y="111645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22571" y="1672959"/>
          <a:ext cx="4946650" cy="26625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46955"/>
              </a:tblGrid>
              <a:tr h="645795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200" spc="340">
                          <a:latin typeface="Segoe UI Symbol"/>
                          <a:cs typeface="Segoe UI Symbol"/>
                        </a:rPr>
                        <a:t>o</a:t>
                      </a:r>
                      <a:r>
                        <a:rPr dirty="0" sz="120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120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Achieved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3779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950" spc="-4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fine</a:t>
                      </a:r>
                      <a:r>
                        <a:rPr dirty="0" sz="95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calculation,</a:t>
                      </a:r>
                      <a:r>
                        <a:rPr dirty="0" sz="95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digital</a:t>
                      </a:r>
                      <a:r>
                        <a:rPr dirty="0" sz="95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challans,</a:t>
                      </a:r>
                      <a:r>
                        <a:rPr dirty="0" sz="95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structured</a:t>
                      </a:r>
                      <a:r>
                        <a:rPr dirty="0" sz="95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record</a:t>
                      </a:r>
                      <a:r>
                        <a:rPr dirty="0" sz="95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60325">
                    <a:lnL w="28575">
                      <a:solidFill>
                        <a:srgbClr val="FB8337"/>
                      </a:solidFill>
                      <a:prstDash val="solid"/>
                    </a:lnL>
                    <a:lnR w="28575">
                      <a:solidFill>
                        <a:srgbClr val="FB8337"/>
                      </a:solidFill>
                      <a:prstDash val="solid"/>
                    </a:lnR>
                    <a:lnB w="19050">
                      <a:solidFill>
                        <a:srgbClr val="E1691D"/>
                      </a:solidFill>
                      <a:prstDash val="solid"/>
                    </a:lnB>
                  </a:tcPr>
                </a:tc>
              </a:tr>
              <a:tr h="692785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dirty="0" sz="1200" spc="310">
                          <a:latin typeface="Segoe UI Symbol"/>
                          <a:cs typeface="Segoe UI Symbol"/>
                        </a:rPr>
                        <a:t>🔜</a:t>
                      </a:r>
                      <a:r>
                        <a:rPr dirty="0" sz="1200" spc="-5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120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File </a:t>
                      </a:r>
                      <a:r>
                        <a:rPr dirty="0" sz="120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Handling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3779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Persist</a:t>
                      </a:r>
                      <a:r>
                        <a:rPr dirty="0" sz="950" spc="-2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records</a:t>
                      </a:r>
                      <a:r>
                        <a:rPr dirty="0" sz="9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dirty="0" sz="9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sessions</a:t>
                      </a:r>
                      <a:r>
                        <a:rPr dirty="0" sz="9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9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file</a:t>
                      </a:r>
                      <a:r>
                        <a:rPr dirty="0" sz="9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I/O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15570">
                    <a:lnL w="28575">
                      <a:solidFill>
                        <a:srgbClr val="FB8337"/>
                      </a:solidFill>
                      <a:prstDash val="solid"/>
                    </a:lnL>
                    <a:lnR w="28575">
                      <a:solidFill>
                        <a:srgbClr val="FB8337"/>
                      </a:solidFill>
                      <a:prstDash val="solid"/>
                    </a:lnR>
                    <a:lnT w="19050">
                      <a:solidFill>
                        <a:srgbClr val="E1691D"/>
                      </a:solidFill>
                      <a:prstDash val="solid"/>
                    </a:lnT>
                    <a:lnB w="19050">
                      <a:solidFill>
                        <a:srgbClr val="E1691D"/>
                      </a:solidFill>
                      <a:prstDash val="solid"/>
                    </a:lnB>
                    <a:solidFill>
                      <a:srgbClr val="030303"/>
                    </a:solidFill>
                  </a:tcPr>
                </a:tc>
              </a:tr>
              <a:tr h="692785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dirty="0" sz="1200" spc="310">
                          <a:latin typeface="Segoe UI Symbol"/>
                          <a:cs typeface="Segoe UI Symbol"/>
                        </a:rPr>
                        <a:t>🔜</a:t>
                      </a:r>
                      <a:r>
                        <a:rPr dirty="0" sz="120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120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3779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Integrate</a:t>
                      </a:r>
                      <a:r>
                        <a:rPr dirty="0" sz="95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50" spc="-2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r>
                        <a:rPr dirty="0" sz="950" spc="-2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50" spc="-2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scalable</a:t>
                      </a:r>
                      <a:r>
                        <a:rPr dirty="0" sz="950" spc="-2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950" spc="-2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15570">
                    <a:lnL w="28575">
                      <a:solidFill>
                        <a:srgbClr val="FB8337"/>
                      </a:solidFill>
                      <a:prstDash val="solid"/>
                    </a:lnL>
                    <a:lnR w="28575">
                      <a:solidFill>
                        <a:srgbClr val="FB8337"/>
                      </a:solidFill>
                      <a:prstDash val="solid"/>
                    </a:lnR>
                    <a:lnT w="19050">
                      <a:solidFill>
                        <a:srgbClr val="E1691D"/>
                      </a:solidFill>
                      <a:prstDash val="solid"/>
                    </a:lnT>
                    <a:lnB w="19050">
                      <a:solidFill>
                        <a:srgbClr val="E1691D"/>
                      </a:solidFill>
                      <a:prstDash val="solid"/>
                    </a:lnB>
                    <a:solidFill>
                      <a:srgbClr val="030303"/>
                    </a:solidFill>
                  </a:tcPr>
                </a:tc>
              </a:tr>
              <a:tr h="631190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dirty="0" sz="1200" spc="310">
                          <a:latin typeface="Segoe UI Symbol"/>
                          <a:cs typeface="Segoe UI Symbol"/>
                        </a:rPr>
                        <a:t>🔜</a:t>
                      </a:r>
                      <a:r>
                        <a:rPr dirty="0" sz="1200" spc="-5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120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Admin</a:t>
                      </a:r>
                      <a:r>
                        <a:rPr dirty="0" sz="120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20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Payment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3779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Add</a:t>
                      </a:r>
                      <a:r>
                        <a:rPr dirty="0" sz="950" spc="-3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login</a:t>
                      </a:r>
                      <a:r>
                        <a:rPr dirty="0" sz="950" spc="-2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authentication</a:t>
                      </a:r>
                      <a:r>
                        <a:rPr dirty="0" sz="950" spc="-2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50" spc="-3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online</a:t>
                      </a:r>
                      <a:r>
                        <a:rPr dirty="0" sz="950" spc="-2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payment</a:t>
                      </a:r>
                      <a:r>
                        <a:rPr dirty="0" sz="950" spc="-2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gateway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15570">
                    <a:lnL w="28575">
                      <a:solidFill>
                        <a:srgbClr val="FB8337"/>
                      </a:solidFill>
                      <a:prstDash val="solid"/>
                    </a:lnL>
                    <a:lnR w="28575">
                      <a:solidFill>
                        <a:srgbClr val="FB8337"/>
                      </a:solidFill>
                      <a:prstDash val="solid"/>
                    </a:lnR>
                    <a:lnT w="19050">
                      <a:solidFill>
                        <a:srgbClr val="E1691D"/>
                      </a:solidFill>
                      <a:prstDash val="solid"/>
                    </a:lnT>
                    <a:solidFill>
                      <a:srgbClr val="030303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/>
          <p:nvPr/>
        </p:nvSpPr>
        <p:spPr>
          <a:xfrm>
            <a:off x="434131" y="4526978"/>
            <a:ext cx="711835" cy="242570"/>
          </a:xfrm>
          <a:custGeom>
            <a:avLst/>
            <a:gdLst/>
            <a:ahLst/>
            <a:cxnLst/>
            <a:rect l="l" t="t" r="r" b="b"/>
            <a:pathLst>
              <a:path w="711835" h="242570">
                <a:moveTo>
                  <a:pt x="0" y="89306"/>
                </a:moveTo>
                <a:lnTo>
                  <a:pt x="7065" y="54687"/>
                </a:lnTo>
                <a:lnTo>
                  <a:pt x="26282" y="26284"/>
                </a:lnTo>
                <a:lnTo>
                  <a:pt x="54687" y="7065"/>
                </a:lnTo>
                <a:lnTo>
                  <a:pt x="89311" y="0"/>
                </a:lnTo>
                <a:lnTo>
                  <a:pt x="622458" y="0"/>
                </a:lnTo>
                <a:lnTo>
                  <a:pt x="657083" y="7065"/>
                </a:lnTo>
                <a:lnTo>
                  <a:pt x="685487" y="26284"/>
                </a:lnTo>
                <a:lnTo>
                  <a:pt x="704705" y="54687"/>
                </a:lnTo>
                <a:lnTo>
                  <a:pt x="711770" y="89306"/>
                </a:lnTo>
                <a:lnTo>
                  <a:pt x="711770" y="153060"/>
                </a:lnTo>
                <a:lnTo>
                  <a:pt x="704705" y="187679"/>
                </a:lnTo>
                <a:lnTo>
                  <a:pt x="685487" y="216082"/>
                </a:lnTo>
                <a:lnTo>
                  <a:pt x="657083" y="235301"/>
                </a:lnTo>
                <a:lnTo>
                  <a:pt x="622458" y="242366"/>
                </a:lnTo>
                <a:lnTo>
                  <a:pt x="89311" y="242366"/>
                </a:lnTo>
                <a:lnTo>
                  <a:pt x="54687" y="235301"/>
                </a:lnTo>
                <a:lnTo>
                  <a:pt x="26282" y="216082"/>
                </a:lnTo>
                <a:lnTo>
                  <a:pt x="7065" y="187679"/>
                </a:lnTo>
                <a:lnTo>
                  <a:pt x="0" y="153060"/>
                </a:lnTo>
                <a:lnTo>
                  <a:pt x="0" y="89306"/>
                </a:lnTo>
                <a:close/>
              </a:path>
            </a:pathLst>
          </a:custGeom>
          <a:ln w="9524">
            <a:solidFill>
              <a:srgbClr val="FB83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05371" y="4590745"/>
            <a:ext cx="5810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FB8337"/>
                </a:solidFill>
                <a:latin typeface="Arial"/>
                <a:cs typeface="Arial"/>
              </a:rPr>
              <a:t>THANK</a:t>
            </a:r>
            <a:r>
              <a:rPr dirty="0" sz="750" spc="-20">
                <a:solidFill>
                  <a:srgbClr val="FB8337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FB8337"/>
                </a:solidFill>
                <a:latin typeface="Arial"/>
                <a:cs typeface="Arial"/>
              </a:rPr>
              <a:t>YOU</a:t>
            </a:r>
            <a:endParaRPr sz="75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207889" y="4526978"/>
            <a:ext cx="1036955" cy="242570"/>
          </a:xfrm>
          <a:custGeom>
            <a:avLst/>
            <a:gdLst/>
            <a:ahLst/>
            <a:cxnLst/>
            <a:rect l="l" t="t" r="r" b="b"/>
            <a:pathLst>
              <a:path w="1036955" h="242570">
                <a:moveTo>
                  <a:pt x="0" y="89306"/>
                </a:moveTo>
                <a:lnTo>
                  <a:pt x="7065" y="54687"/>
                </a:lnTo>
                <a:lnTo>
                  <a:pt x="26282" y="26284"/>
                </a:lnTo>
                <a:lnTo>
                  <a:pt x="54687" y="7065"/>
                </a:lnTo>
                <a:lnTo>
                  <a:pt x="89311" y="0"/>
                </a:lnTo>
                <a:lnTo>
                  <a:pt x="947498" y="0"/>
                </a:lnTo>
                <a:lnTo>
                  <a:pt x="982123" y="7065"/>
                </a:lnTo>
                <a:lnTo>
                  <a:pt x="1010528" y="26284"/>
                </a:lnTo>
                <a:lnTo>
                  <a:pt x="1029746" y="54687"/>
                </a:lnTo>
                <a:lnTo>
                  <a:pt x="1036811" y="89306"/>
                </a:lnTo>
                <a:lnTo>
                  <a:pt x="1036811" y="153060"/>
                </a:lnTo>
                <a:lnTo>
                  <a:pt x="1029746" y="187679"/>
                </a:lnTo>
                <a:lnTo>
                  <a:pt x="1010528" y="216082"/>
                </a:lnTo>
                <a:lnTo>
                  <a:pt x="982123" y="235301"/>
                </a:lnTo>
                <a:lnTo>
                  <a:pt x="947498" y="242366"/>
                </a:lnTo>
                <a:lnTo>
                  <a:pt x="89311" y="242366"/>
                </a:lnTo>
                <a:lnTo>
                  <a:pt x="54687" y="235301"/>
                </a:lnTo>
                <a:lnTo>
                  <a:pt x="26282" y="216082"/>
                </a:lnTo>
                <a:lnTo>
                  <a:pt x="7065" y="187679"/>
                </a:lnTo>
                <a:lnTo>
                  <a:pt x="0" y="153060"/>
                </a:lnTo>
                <a:lnTo>
                  <a:pt x="0" y="89306"/>
                </a:lnTo>
                <a:close/>
              </a:path>
            </a:pathLst>
          </a:custGeom>
          <a:ln w="9524">
            <a:solidFill>
              <a:srgbClr val="FB83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279131" y="4590745"/>
            <a:ext cx="9245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FB8337"/>
                </a:solidFill>
                <a:latin typeface="Arial"/>
                <a:cs typeface="Arial"/>
              </a:rPr>
              <a:t>BSCS</a:t>
            </a:r>
            <a:r>
              <a:rPr dirty="0" sz="750" spc="-25">
                <a:solidFill>
                  <a:srgbClr val="FB833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FB8337"/>
                </a:solidFill>
                <a:latin typeface="Arial"/>
                <a:cs typeface="Arial"/>
              </a:rPr>
              <a:t>2A</a:t>
            </a:r>
            <a:r>
              <a:rPr dirty="0" sz="750" spc="-20">
                <a:solidFill>
                  <a:srgbClr val="FB833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FB8337"/>
                </a:solidFill>
                <a:latin typeface="Arial"/>
                <a:cs typeface="Arial"/>
              </a:rPr>
              <a:t>·</a:t>
            </a:r>
            <a:r>
              <a:rPr dirty="0" sz="750" spc="-25">
                <a:solidFill>
                  <a:srgbClr val="FB833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FB8337"/>
                </a:solidFill>
                <a:latin typeface="Arial"/>
                <a:cs typeface="Arial"/>
              </a:rPr>
              <a:t>OOP</a:t>
            </a:r>
            <a:r>
              <a:rPr dirty="0" sz="750" spc="-20">
                <a:solidFill>
                  <a:srgbClr val="FB8337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FB8337"/>
                </a:solidFill>
                <a:latin typeface="Arial"/>
                <a:cs typeface="Arial"/>
              </a:rPr>
              <a:t>LAB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2026-05-10T13:03:04Z</dcterms:created>
  <dcterms:modified xsi:type="dcterms:W3CDTF">2026-05-10T13:03:04Z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2026-05-10T00:00:00Z</vt:filetime>
  </property>
  <property fmtid="{D5CDD505-2E9C-101B-9397-08002B2CF9AE}" pid="3" name="LastSaved">
    <vt:filetime>2026-05-10T00:00:00Z</vt:filetime>
  </property>
  <property fmtid="{D5CDD505-2E9C-101B-9397-08002B2CF9AE}" pid="4" name="Producer">
    <vt:lpwstr>3-Heights(TM) PDF Security Shell 4.8.25.2 (http://www.pdf-tools.com)</vt:lpwstr>
  </property>
</Properties>
</file>